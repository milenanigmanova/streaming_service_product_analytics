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Override PartName="/ppt/presentation.xml" ContentType="application/vnd.openxmlformats-officedocument.presentationml.presentation.main+xml"/>
  <Override PartName="/ppt/revisionInfo.xml" ContentType="application/vnd.ms-powerpoint.revisioninfo+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2.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3.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24" r:id="rId1"/>
  </p:sldMasterIdLst>
  <p:notesMasterIdLst>
    <p:notesMasterId r:id="rId2"/>
  </p:notesMasterIdLst>
  <p:sldIdLst>
    <p:sldId id="256" r:id="rId3"/>
    <p:sldId id="259" r:id="rId4"/>
    <p:sldId id="257" r:id="rId5"/>
    <p:sldId id="258" r:id="rId6"/>
    <p:sldId id="260" r:id="rId7"/>
    <p:sldId id="261" r:id="rId8"/>
    <p:sldId id="262" r:id="rId9"/>
    <p:sldId id="263" r:id="rId10"/>
    <p:sldId id="264"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9" d="100"/>
          <a:sy n="89" d="100"/>
        </p:scale>
        <p:origin x="114" y="32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tableStyles" Target="tableStyle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3.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полнитель верхнего колонтитула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Заполнитель даты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27F8BF-071D-4F0B-BAEC-FA98BB2C87E1}" type="datetimeFigureOut">
              <a:rPr lang="en-US" smtClean="0"/>
              <a:t>11/14/2025</a:t>
            </a:fld>
            <a:endParaRPr lang="en-US"/>
          </a:p>
        </p:txBody>
      </p:sp>
      <p:sp>
        <p:nvSpPr>
          <p:cNvPr id="4" name="Заполнитель изображения слайда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Заполнитель заметок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6" name="Заполнитель нижнего колонтитула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ltLang="en-US"/>
          </a:p>
        </p:txBody>
      </p:sp>
      <p:sp>
        <p:nvSpPr>
          <p:cNvPr id="7" name="Заполнитель номера слайда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77FED1-F6AC-42D2-BD52-AAF1B3CDC0C4}" type="slidenum">
              <a:rPr lang="en-US" smtClean="0"/>
              <a:t>‹#›</a:t>
            </a:fld>
            <a:endParaRPr lang="en-US"/>
          </a:p>
        </p:txBody>
      </p:sp>
    </p:spTree>
  </p:cSld>
  <p:clrMap bg1="lt1" tx1="dk1" bg2="lt2" tx2="dk2" accent1="accent1" accent2="accent2" accent3="accent3" accent4="accent4" accent5="accent5" accent6="accent6" hlink="hlink" folHlink="folHlink"/>
  <p:hf dt="0"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27805C86-ACCF-48F2-BDDC-F117886F725C}" type="slidenum">
              <a:rPr lang="en-US" smtClean="0"/>
              <a:t>‹#›</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819C74DC-EDD8-48C6-A694-6D8F86860631}" type="slidenum">
              <a:rPr lang="en-US" smtClean="0"/>
              <a:t>‹#›</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96D981FE-DCA6-4121-B6D7-FFD1BE5B8930}" type="slidenum">
              <a:rPr lang="en-US" smtClean="0"/>
              <a:t>‹#›</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1C4F2ECF-A371-452A-8594-5B6937FA7C10}" type="slidenum">
              <a:rPr lang="en-US" smtClean="0"/>
              <a:t>‹#›</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2881A957-13EB-4296-BF27-38F3890BE0E3}" type="slidenum">
              <a:rPr lang="en-US" smtClean="0"/>
              <a:t>‹#›</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8B8532E2-EA70-4AB2-A4A0-238418E7E1A9}" type="slidenum">
              <a:rPr lang="en-US" smtClean="0"/>
              <a:t>‹#›</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39EF2704-C49E-40F4-ADE2-289E115BB7DD}" type="slidenum">
              <a:rPr lang="en-US" smtClean="0"/>
              <a:t>‹#›</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3871D78D-A003-4EB5-BCEA-CE22FCB8EFCC}" type="slidenum">
              <a:rPr lang="en-US" smtClean="0"/>
              <a:t>‹#›</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Заполнитель текста 2"/>
          <p:cNvSpPr>
            <a:spLocks noGrp="1" noEditPoints="1"/>
          </p:cNvSpPr>
          <p:nvPr>
            <p:ph type="body" idx="3"/>
          </p:nvPr>
        </p:nvSpPr>
        <p:spPr>
          <a:prstGeom prst="rect">
            <a:avLst/>
          </a:prstGeom>
        </p:spPr>
        <p:txBody>
          <a:bodyPr/>
          <a:lstStyle/>
          <a:p>
            <a:endParaRPr lang="en-US"/>
          </a:p>
        </p:txBody>
      </p:sp>
      <p:sp>
        <p:nvSpPr>
          <p:cNvPr id="4" name="Заполнитель номера слайда 3"/>
          <p:cNvSpPr>
            <a:spLocks noGrp="1" noEditPoints="1"/>
          </p:cNvSpPr>
          <p:nvPr>
            <p:ph type="sldNum" sz="quarter" idx="5"/>
          </p:nvPr>
        </p:nvSpPr>
        <p:spPr>
          <a:prstGeom prst="rect">
            <a:avLst/>
          </a:prstGeom>
        </p:spPr>
        <p:txBody>
          <a:bodyPr/>
          <a:lstStyle/>
          <a:p>
            <a:fld id="{CC386D70-7909-40B2-A6B5-5A5CF2522632}" type="slidenum">
              <a:rPr lang="en-US" smtClean="0"/>
              <a:t>‹#›</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tx2"/>
        </a:solidFill>
      </p:bgPr>
    </p:bg>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524000" y="1122363"/>
            <a:ext cx="9144000" cy="2387600"/>
          </a:xfrm>
        </p:spPr>
        <p:txBody>
          <a:bodyPr anchor="b"/>
          <a:lstStyle>
            <a:lvl1pPr algn="ctr">
              <a:defRPr sz="6000">
                <a:solidFill>
                  <a:schemeClr val="bg2">
                    <a:lumMod val="75000"/>
                  </a:schemeClr>
                </a:solidFill>
              </a:defRPr>
            </a:lvl1pPr>
          </a:lstStyle>
          <a:p>
            <a:r>
              <a:rPr lang="ru-RU" altLang="en-US"/>
              <a:t>Щелкните для изменения стиля основного заголовка</a:t>
            </a:r>
          </a:p>
        </p:txBody>
      </p:sp>
      <p:sp>
        <p:nvSpPr>
          <p:cNvPr id="3" name="Subtitle 2"/>
          <p:cNvSpPr>
            <a:spLocks noGrp="1" noEditPoints="1"/>
          </p:cNvSpPr>
          <p:nvPr>
            <p:ph type="subTitle" idx="1"/>
          </p:nvPr>
        </p:nvSpPr>
        <p:spPr>
          <a:xfrm>
            <a:off x="1524000" y="3602038"/>
            <a:ext cx="9144000" cy="1655762"/>
          </a:xfrm>
        </p:spPr>
        <p:txBody>
          <a:bodyPr/>
          <a:lstStyle>
            <a:lvl1pPr marL="0" indent="0" algn="ctr">
              <a:buNone/>
              <a:defRPr sz="2400">
                <a:solidFill>
                  <a:schemeClr val="bg2">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ru-RU" altLang="en-US"/>
              <a:t>Щелкните для изменения стиля основного подзаголовка</a:t>
            </a:r>
          </a:p>
        </p:txBody>
      </p:sp>
      <p:sp>
        <p:nvSpPr>
          <p:cNvPr id="9" name="Oval 8"/>
          <p:cNvSpPr/>
          <p:nvPr/>
        </p:nvSpPr>
        <p:spPr>
          <a:xfrm>
            <a:off x="6848475" y="5038949"/>
            <a:ext cx="600075" cy="60007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43449" y="5049837"/>
            <a:ext cx="600075" cy="600075"/>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795962" y="5038950"/>
            <a:ext cx="600075" cy="60007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2700" y="6176962"/>
            <a:ext cx="12204700" cy="68103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hf dt="0"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ние и контент">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ru-RU" altLang="en-US"/>
              <a:t>Щелкните для изменения стиля основного заголовка</a:t>
            </a:r>
          </a:p>
        </p:txBody>
      </p:sp>
      <p:sp>
        <p:nvSpPr>
          <p:cNvPr id="3" name="Content Placeholder 2"/>
          <p:cNvSpPr>
            <a:spLocks noGrp="1" noEditPoints="1"/>
          </p:cNvSpPr>
          <p:nvPr>
            <p:ph idx="1"/>
          </p:nvPr>
        </p:nvSpPr>
        <p:spPr/>
        <p:txBody>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4" name="Date Placeholder 3"/>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5" name="Footer Placeholder 4"/>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6" name="Slide Number Placeholder 5"/>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0" name="Rectangle 9"/>
          <p:cNvSpPr/>
          <p:nvPr/>
        </p:nvSpPr>
        <p:spPr>
          <a:xfrm>
            <a:off x="-12700" y="6176962"/>
            <a:ext cx="12204700" cy="68103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noEditPoints="1"/>
          </p:cNvSpPr>
          <p:nvPr>
            <p:ph type="title"/>
          </p:nvPr>
        </p:nvSpPr>
        <p:spPr>
          <a:xfrm>
            <a:off x="831850" y="1709738"/>
            <a:ext cx="10515600" cy="2852737"/>
          </a:xfrm>
        </p:spPr>
        <p:txBody>
          <a:bodyPr anchor="b"/>
          <a:lstStyle>
            <a:lvl1pPr>
              <a:defRPr sz="6000"/>
            </a:lvl1pPr>
          </a:lstStyle>
          <a:p>
            <a:r>
              <a:rPr lang="ru-RU" altLang="en-US"/>
              <a:t>Щелкните для изменения стиля основного заголовка</a:t>
            </a:r>
          </a:p>
        </p:txBody>
      </p:sp>
      <p:sp>
        <p:nvSpPr>
          <p:cNvPr id="3" name="Text Placeholder 2"/>
          <p:cNvSpPr>
            <a:spLocks noGrp="1" noEditPoints="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ltLang="en-US"/>
              <a:t>Щелкните для изменения стиля основного текста</a:t>
            </a:r>
          </a:p>
        </p:txBody>
      </p:sp>
      <p:sp>
        <p:nvSpPr>
          <p:cNvPr id="4" name="Date Placeholder 3"/>
          <p:cNvSpPr>
            <a:spLocks noGrp="1" noEditPoints="1"/>
          </p:cNvSpPr>
          <p:nvPr>
            <p:ph type="dt" sz="half" idx="10"/>
          </p:nvPr>
        </p:nvSpPr>
        <p:spPr>
          <a:xfrm>
            <a:off x="838200" y="6356350"/>
            <a:ext cx="2743200" cy="365125"/>
          </a:xfrm>
          <a:prstGeom prst="rect">
            <a:avLst/>
          </a:prstGeom>
        </p:spPr>
        <p:txBody>
          <a:bodyPr/>
          <a:lstStyle>
            <a:lvl1pPr>
              <a:defRPr>
                <a:solidFill>
                  <a:schemeClr val="tx2">
                    <a:lumMod val="75000"/>
                  </a:schemeClr>
                </a:solidFill>
              </a:defRPr>
            </a:lvl1pPr>
          </a:lstStyle>
          <a:p>
            <a:fld id="{86BA785E-6E67-4B64-B9BE-8B3417A9CC68}" type="datetimeFigureOut">
              <a:rPr lang="en-US" smtClean="0"/>
              <a:t/>
            </a:fld>
            <a:endParaRPr lang="en-US"/>
          </a:p>
        </p:txBody>
      </p:sp>
      <p:sp>
        <p:nvSpPr>
          <p:cNvPr id="5" name="Footer Placeholder 4"/>
          <p:cNvSpPr>
            <a:spLocks noGrp="1" noEditPoints="1"/>
          </p:cNvSpPr>
          <p:nvPr>
            <p:ph type="ftr" sz="quarter" idx="11"/>
          </p:nvPr>
        </p:nvSpPr>
        <p:spPr>
          <a:xfrm>
            <a:off x="4038600" y="6356350"/>
            <a:ext cx="4114800" cy="365125"/>
          </a:xfrm>
          <a:prstGeom prst="rect">
            <a:avLst/>
          </a:prstGeom>
        </p:spPr>
        <p:txBody>
          <a:bodyPr/>
          <a:lstStyle>
            <a:lvl1pPr>
              <a:defRPr>
                <a:solidFill>
                  <a:schemeClr val="tx2">
                    <a:lumMod val="75000"/>
                  </a:schemeClr>
                </a:solidFill>
              </a:defRPr>
            </a:lvl1pPr>
          </a:lstStyle>
          <a:p>
            <a:endParaRPr lang="ru-RU" altLang="en-US"/>
          </a:p>
        </p:txBody>
      </p:sp>
      <p:sp>
        <p:nvSpPr>
          <p:cNvPr id="6" name="Slide Number Placeholder 5"/>
          <p:cNvSpPr>
            <a:spLocks noGrp="1" noEditPoints="1"/>
          </p:cNvSpPr>
          <p:nvPr>
            <p:ph type="sldNum" sz="quarter" idx="12"/>
          </p:nvPr>
        </p:nvSpPr>
        <p:spPr>
          <a:xfrm>
            <a:off x="8610600" y="6356350"/>
            <a:ext cx="2743200" cy="365125"/>
          </a:xfrm>
          <a:prstGeom prst="rect">
            <a:avLst/>
          </a:prstGeom>
        </p:spPr>
        <p:txBody>
          <a:bodyPr/>
          <a:lstStyle>
            <a:lvl1pPr>
              <a:defRPr>
                <a:solidFill>
                  <a:schemeClr val="tx2">
                    <a:lumMod val="75000"/>
                  </a:schemeClr>
                </a:solidFill>
              </a:defRPr>
            </a:lvl1pPr>
          </a:lstStyle>
          <a:p>
            <a:fld id="{BBF4351E-3AFC-49FF-AC85-ADC9489D25DF}" type="slidenum">
              <a:rPr lang="en-US" smtClean="0"/>
              <a:t>‹#›</a:t>
            </a:fld>
            <a:endParaRPr lang="en-US"/>
          </a:p>
        </p:txBody>
      </p:sp>
      <p:sp>
        <p:nvSpPr>
          <p:cNvPr id="7" name="Oval 6"/>
          <p:cNvSpPr/>
          <p:nvPr/>
        </p:nvSpPr>
        <p:spPr>
          <a:xfrm>
            <a:off x="2981325" y="1709738"/>
            <a:ext cx="600075" cy="60007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876299" y="1720626"/>
            <a:ext cx="600075" cy="600075"/>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928812" y="1709739"/>
            <a:ext cx="600075" cy="60007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hf dt="0"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контента">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ru-RU" altLang="en-US"/>
              <a:t>Щелкните для изменения стиля основного заголовка</a:t>
            </a:r>
          </a:p>
        </p:txBody>
      </p:sp>
      <p:sp>
        <p:nvSpPr>
          <p:cNvPr id="3" name="Content Placeholder 2"/>
          <p:cNvSpPr>
            <a:spLocks noGrp="1" noEditPoints="1"/>
          </p:cNvSpPr>
          <p:nvPr>
            <p:ph sz="half" idx="1"/>
          </p:nvPr>
        </p:nvSpPr>
        <p:spPr>
          <a:xfrm>
            <a:off x="838200" y="1825625"/>
            <a:ext cx="5181600" cy="4351338"/>
          </a:xfrm>
        </p:spPr>
        <p:txBody>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4" name="Content Placeholder 3"/>
          <p:cNvSpPr>
            <a:spLocks noGrp="1" noEditPoints="1"/>
          </p:cNvSpPr>
          <p:nvPr>
            <p:ph sz="half" idx="2"/>
          </p:nvPr>
        </p:nvSpPr>
        <p:spPr>
          <a:xfrm>
            <a:off x="6172200" y="1825625"/>
            <a:ext cx="5181600" cy="4351338"/>
          </a:xfrm>
        </p:spPr>
        <p:txBody>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5" name="Date Placeholder 4"/>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6" name="Footer Placeholder 5"/>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7" name="Slide Number Placeholder 6"/>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365125"/>
            <a:ext cx="10515600" cy="1325563"/>
          </a:xfrm>
        </p:spPr>
        <p:txBody>
          <a:bodyPr/>
          <a:lstStyle/>
          <a:p>
            <a:r>
              <a:rPr lang="ru-RU" altLang="en-US"/>
              <a:t>Щелкните для изменения стиля основного заголовка</a:t>
            </a:r>
          </a:p>
        </p:txBody>
      </p:sp>
      <p:sp>
        <p:nvSpPr>
          <p:cNvPr id="3" name="Text Placeholder 2"/>
          <p:cNvSpPr>
            <a:spLocks noGrp="1" noEditPoints="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ltLang="en-US"/>
              <a:t>Щелкните для изменения стиля основного текста</a:t>
            </a:r>
          </a:p>
        </p:txBody>
      </p:sp>
      <p:sp>
        <p:nvSpPr>
          <p:cNvPr id="4" name="Content Placeholder 3"/>
          <p:cNvSpPr>
            <a:spLocks noGrp="1" noEditPoints="1"/>
          </p:cNvSpPr>
          <p:nvPr>
            <p:ph sz="half" idx="2"/>
          </p:nvPr>
        </p:nvSpPr>
        <p:spPr>
          <a:xfrm>
            <a:off x="839788" y="2505075"/>
            <a:ext cx="5157787" cy="3684588"/>
          </a:xfrm>
        </p:spPr>
        <p:txBody>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5" name="Text Placeholder 4"/>
          <p:cNvSpPr>
            <a:spLocks noGrp="1" noEditPoints="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ltLang="en-US"/>
              <a:t>Щелкните для изменения стиля основного текста</a:t>
            </a:r>
          </a:p>
        </p:txBody>
      </p:sp>
      <p:sp>
        <p:nvSpPr>
          <p:cNvPr id="6" name="Content Placeholder 5"/>
          <p:cNvSpPr>
            <a:spLocks noGrp="1" noEditPoints="1"/>
          </p:cNvSpPr>
          <p:nvPr>
            <p:ph sz="quarter" idx="4"/>
          </p:nvPr>
        </p:nvSpPr>
        <p:spPr>
          <a:xfrm>
            <a:off x="6172200" y="2505075"/>
            <a:ext cx="5183188" cy="3684588"/>
          </a:xfrm>
        </p:spPr>
        <p:txBody>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7" name="Date Placeholder 6"/>
          <p:cNvSpPr>
            <a:spLocks noGrp="1" noEditPoints="1"/>
          </p:cNvSpPr>
          <p:nvPr>
            <p:ph type="dt" sz="half" idx="10"/>
          </p:nvPr>
        </p:nvSpPr>
        <p:spPr>
          <a:xfrm>
            <a:off x="838200" y="6410140"/>
            <a:ext cx="2743200" cy="365125"/>
          </a:xfrm>
          <a:prstGeom prst="rect">
            <a:avLst/>
          </a:prstGeom>
        </p:spPr>
        <p:txBody>
          <a:bodyPr/>
          <a:lstStyle>
            <a:lvl1pPr>
              <a:defRPr>
                <a:solidFill>
                  <a:schemeClr val="tx2">
                    <a:lumMod val="75000"/>
                  </a:schemeClr>
                </a:solidFill>
              </a:defRPr>
            </a:lvl1pPr>
          </a:lstStyle>
          <a:p>
            <a:fld id="{86BA785E-6E67-4B64-B9BE-8B3417A9CC68}" type="datetimeFigureOut">
              <a:rPr lang="en-US" smtClean="0"/>
              <a:t/>
            </a:fld>
            <a:endParaRPr lang="en-US"/>
          </a:p>
        </p:txBody>
      </p:sp>
      <p:sp>
        <p:nvSpPr>
          <p:cNvPr id="8" name="Footer Placeholder 7"/>
          <p:cNvSpPr>
            <a:spLocks noGrp="1" noEditPoints="1"/>
          </p:cNvSpPr>
          <p:nvPr>
            <p:ph type="ftr" sz="quarter" idx="11"/>
          </p:nvPr>
        </p:nvSpPr>
        <p:spPr>
          <a:xfrm>
            <a:off x="4038600" y="6410140"/>
            <a:ext cx="4114800" cy="365125"/>
          </a:xfrm>
          <a:prstGeom prst="rect">
            <a:avLst/>
          </a:prstGeom>
        </p:spPr>
        <p:txBody>
          <a:bodyPr/>
          <a:lstStyle>
            <a:lvl1pPr>
              <a:defRPr>
                <a:solidFill>
                  <a:schemeClr val="tx2">
                    <a:lumMod val="75000"/>
                  </a:schemeClr>
                </a:solidFill>
              </a:defRPr>
            </a:lvl1pPr>
          </a:lstStyle>
          <a:p>
            <a:endParaRPr lang="ru-RU" altLang="en-US"/>
          </a:p>
        </p:txBody>
      </p:sp>
      <p:sp>
        <p:nvSpPr>
          <p:cNvPr id="9" name="Slide Number Placeholder 8"/>
          <p:cNvSpPr>
            <a:spLocks noGrp="1" noEditPoints="1"/>
          </p:cNvSpPr>
          <p:nvPr>
            <p:ph type="sldNum" sz="quarter" idx="12"/>
          </p:nvPr>
        </p:nvSpPr>
        <p:spPr>
          <a:xfrm>
            <a:off x="8610600" y="6410140"/>
            <a:ext cx="2743200" cy="365125"/>
          </a:xfrm>
          <a:prstGeom prst="rect">
            <a:avLst/>
          </a:prstGeom>
        </p:spPr>
        <p:txBody>
          <a:bodyPr/>
          <a:lstStyle>
            <a:lvl1pPr>
              <a:defRPr>
                <a:solidFill>
                  <a:schemeClr val="tx2">
                    <a:lumMod val="75000"/>
                  </a:schemeClr>
                </a:solidFill>
              </a:defRPr>
            </a:lvl1pPr>
          </a:lstStyle>
          <a:p>
            <a:fld id="{BBF4351E-3AFC-49FF-AC85-ADC9489D25DF}" type="slidenum">
              <a:rPr lang="en-US" smtClean="0"/>
              <a:t>‹#›</a:t>
            </a:fld>
            <a:endParaRPr lang="en-US"/>
          </a:p>
        </p:txBody>
      </p:sp>
    </p:spTree>
  </p:cSld>
  <p:clrMapOvr>
    <a:masterClrMapping/>
  </p:clrMapOvr>
  <p:hf dt="0"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название">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ru-RU" altLang="en-US"/>
              <a:t>Щелкните для изменения стиля основного заголовка</a:t>
            </a:r>
          </a:p>
        </p:txBody>
      </p:sp>
    </p:spTree>
  </p:cSld>
  <p:clrMapOvr>
    <a:masterClrMapping/>
  </p:clrMapOvr>
  <p:hf dt="0"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p:spTree>
      <p:nvGrpSpPr>
        <p:cNvPr id="1" name=""/>
        <p:cNvGrpSpPr/>
        <p:nvPr/>
      </p:nvGrpSpPr>
      <p:grpSpPr>
        <a:xfrm>
          <a:off x="0" y="0"/>
          <a:ext cx="0" cy="0"/>
          <a:chOff x="0" y="0"/>
          <a:chExt cx="0" cy="0"/>
        </a:xfrm>
      </p:grpSpPr>
    </p:spTree>
  </p:cSld>
  <p:clrMapOvr>
    <a:masterClrMapping/>
  </p:clrMapOvr>
  <p:hf dt="0"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Контент с подписью">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ru-RU" altLang="en-US"/>
              <a:t>Щелкните для изменения стиля основного заголовка</a:t>
            </a:r>
          </a:p>
        </p:txBody>
      </p:sp>
      <p:sp>
        <p:nvSpPr>
          <p:cNvPr id="3" name="Content Placeholder 2"/>
          <p:cNvSpPr>
            <a:spLocks noGrp="1" noEditPoints="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ltLang="en-US"/>
              <a:t>Щелкните для изменения стиля основного текста</a:t>
            </a:r>
          </a:p>
        </p:txBody>
      </p:sp>
      <p:sp>
        <p:nvSpPr>
          <p:cNvPr id="5" name="Date Placeholder 4"/>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6" name="Footer Placeholder 5"/>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7" name="Slide Number Placeholder 6"/>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Изображение с подписью">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ru-RU" altLang="en-US"/>
              <a:t>Щелкните для изменения стиля основного заголовка</a:t>
            </a:r>
          </a:p>
        </p:txBody>
      </p:sp>
      <p:sp>
        <p:nvSpPr>
          <p:cNvPr id="3" name="Picture Placeholder 2"/>
          <p:cNvSpPr>
            <a:spLocks noGrp="1" noEditPoints="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ru-RU" altLang="en-US"/>
              <a:t>Щелкните значок, чтобы добавить рисунок</a:t>
            </a:r>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ltLang="en-US"/>
              <a:t>Щелкните для изменения стиля основного текста</a:t>
            </a:r>
          </a:p>
        </p:txBody>
      </p:sp>
      <p:sp>
        <p:nvSpPr>
          <p:cNvPr id="5" name="Date Placeholder 4"/>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6" name="Footer Placeholder 5"/>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7" name="Slide Number Placeholder 6"/>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Название и текст по вертикали">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ru-RU" altLang="en-US"/>
              <a:t>Щелкните для изменения стиля основного заголовка</a:t>
            </a:r>
          </a:p>
        </p:txBody>
      </p:sp>
      <p:sp>
        <p:nvSpPr>
          <p:cNvPr id="3" name="Vertical Text Placeholder 2"/>
          <p:cNvSpPr>
            <a:spLocks noGrp="1" noEditPoints="1"/>
          </p:cNvSpPr>
          <p:nvPr>
            <p:ph type="body" orient="vert" idx="1"/>
          </p:nvPr>
        </p:nvSpPr>
        <p:spPr/>
        <p:txBody>
          <a:bodyPr vert="eaVert"/>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4" name="Date Placeholder 3"/>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5" name="Footer Placeholder 4"/>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6" name="Slide Number Placeholder 5"/>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Название по вертикали и текст">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8724900" y="365125"/>
            <a:ext cx="2628900" cy="5811838"/>
          </a:xfrm>
        </p:spPr>
        <p:txBody>
          <a:bodyPr vert="eaVert"/>
          <a:lstStyle/>
          <a:p>
            <a:r>
              <a:rPr lang="ru-RU" altLang="en-US"/>
              <a:t>Щелкните для изменения стиля основного заголовка</a:t>
            </a:r>
          </a:p>
        </p:txBody>
      </p:sp>
      <p:sp>
        <p:nvSpPr>
          <p:cNvPr id="3" name="Vertical Text Placeholder 2"/>
          <p:cNvSpPr>
            <a:spLocks noGrp="1" noEditPoints="1"/>
          </p:cNvSpPr>
          <p:nvPr>
            <p:ph type="body" orient="vert" idx="1"/>
          </p:nvPr>
        </p:nvSpPr>
        <p:spPr>
          <a:xfrm>
            <a:off x="838200" y="365125"/>
            <a:ext cx="7734300" cy="5811838"/>
          </a:xfrm>
        </p:spPr>
        <p:txBody>
          <a:bodyPr vert="eaVert"/>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4" name="Date Placeholder 3"/>
          <p:cNvSpPr>
            <a:spLocks noGrp="1" noEditPoints="1"/>
          </p:cNvSpPr>
          <p:nvPr>
            <p:ph type="dt" sz="half" idx="10"/>
          </p:nvPr>
        </p:nvSpPr>
        <p:spPr>
          <a:xfrm>
            <a:off x="838200" y="6356350"/>
            <a:ext cx="2743200" cy="365125"/>
          </a:xfrm>
          <a:prstGeom prst="rect">
            <a:avLst/>
          </a:prstGeom>
        </p:spPr>
        <p:txBody>
          <a:bodyPr/>
          <a:lstStyle/>
          <a:p>
            <a:fld id="{86BA785E-6E67-4B64-B9BE-8B3417A9CC68}" type="datetimeFigureOut">
              <a:rPr lang="en-US" smtClean="0"/>
              <a:t/>
            </a:fld>
            <a:endParaRPr lang="en-US"/>
          </a:p>
        </p:txBody>
      </p:sp>
      <p:sp>
        <p:nvSpPr>
          <p:cNvPr id="5" name="Footer Placeholder 4"/>
          <p:cNvSpPr>
            <a:spLocks noGrp="1" noEditPoints="1"/>
          </p:cNvSpPr>
          <p:nvPr>
            <p:ph type="ftr" sz="quarter" idx="11"/>
          </p:nvPr>
        </p:nvSpPr>
        <p:spPr>
          <a:xfrm>
            <a:off x="4038600" y="6356350"/>
            <a:ext cx="4114800" cy="365125"/>
          </a:xfrm>
          <a:prstGeom prst="rect">
            <a:avLst/>
          </a:prstGeom>
        </p:spPr>
        <p:txBody>
          <a:bodyPr/>
          <a:lstStyle/>
          <a:p>
            <a:endParaRPr lang="ru-RU" altLang="en-US"/>
          </a:p>
        </p:txBody>
      </p:sp>
      <p:sp>
        <p:nvSpPr>
          <p:cNvPr id="6" name="Slide Number Placeholder 5"/>
          <p:cNvSpPr>
            <a:spLocks noGrp="1" noEditPoints="1"/>
          </p:cNvSpPr>
          <p:nvPr>
            <p:ph type="sldNum" sz="quarter" idx="12"/>
          </p:nvPr>
        </p:nvSpPr>
        <p:spPr>
          <a:xfrm>
            <a:off x="8610600" y="6356350"/>
            <a:ext cx="2743200" cy="365125"/>
          </a:xfrm>
          <a:prstGeom prst="rect">
            <a:avLst/>
          </a:prstGeom>
        </p:spPr>
        <p:txBody>
          <a:bodyPr/>
          <a:lstStyle/>
          <a:p>
            <a:fld id="{BBF4351E-3AFC-49FF-AC85-ADC9489D25DF}" type="slidenum">
              <a:rPr lang="en-US" smtClean="0"/>
              <a:t>‹#›</a:t>
            </a:fld>
            <a:endParaRPr lang="en-US"/>
          </a:p>
        </p:txBody>
      </p:sp>
    </p:spTree>
  </p:cSld>
  <p:clrMapOvr>
    <a:masterClrMapping/>
  </p:clrMapOvr>
  <p:hf dt="0"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p:bgPr>
    </p:bg>
    <p:spTree>
      <p:nvGrpSpPr>
        <p:cNvPr id="1" name=""/>
        <p:cNvGrpSpPr/>
        <p:nvPr/>
      </p:nvGrpSpPr>
      <p:grpSpPr>
        <a:xfrm>
          <a:off x="0" y="0"/>
          <a:ext cx="0" cy="0"/>
          <a:chOff x="0" y="0"/>
          <a:chExt cx="0" cy="0"/>
        </a:xfrm>
      </p:grpSpPr>
      <p:sp>
        <p:nvSpPr>
          <p:cNvPr id="14" name="Rectangle 13"/>
          <p:cNvSpPr/>
          <p:nvPr/>
        </p:nvSpPr>
        <p:spPr>
          <a:xfrm>
            <a:off x="-12700" y="6176962"/>
            <a:ext cx="12204700" cy="68103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noEditPoints="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ltLang="en-US"/>
              <a:t>Щелкните для изменения стиля основного заголовка</a:t>
            </a:r>
          </a:p>
        </p:txBody>
      </p:sp>
      <p:sp>
        <p:nvSpPr>
          <p:cNvPr id="3" name="Text Placeholder 2"/>
          <p:cNvSpPr>
            <a:spLocks noGrp="1" noEditPoints="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ltLang="en-US"/>
              <a:t>Щелкните для изменения стиля основного текста</a:t>
            </a:r>
          </a:p>
          <a:p>
            <a:pPr lvl="1"/>
            <a:r>
              <a:rPr lang="ru-RU" altLang="en-US"/>
              <a:t>Второй уровень</a:t>
            </a:r>
          </a:p>
          <a:p>
            <a:pPr lvl="2"/>
            <a:r>
              <a:rPr lang="ru-RU" altLang="en-US"/>
              <a:t>Третий уровень</a:t>
            </a:r>
          </a:p>
          <a:p>
            <a:pPr lvl="3"/>
            <a:r>
              <a:rPr lang="ru-RU" altLang="en-US"/>
              <a:t>Четвертый уровень</a:t>
            </a:r>
          </a:p>
          <a:p>
            <a:pPr lvl="4"/>
            <a:r>
              <a:rPr lang="ru-RU" altLang="en-US"/>
              <a:t>Пятый уровень</a:t>
            </a:r>
          </a:p>
        </p:txBody>
      </p:sp>
      <p:sp>
        <p:nvSpPr>
          <p:cNvPr id="11" name="Oval 10"/>
          <p:cNvSpPr/>
          <p:nvPr/>
        </p:nvSpPr>
        <p:spPr>
          <a:xfrm>
            <a:off x="1438468" y="5977805"/>
            <a:ext cx="408526" cy="408526"/>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03530" y="5977805"/>
            <a:ext cx="408526" cy="40852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70999" y="5977805"/>
            <a:ext cx="408526" cy="408526"/>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6"/>
          <p:cNvSpPr>
            <a:spLocks noGrp="1" noEditPoints="1"/>
          </p:cNvSpPr>
          <p:nvPr>
            <p:ph type="dt" sz="half" idx="2"/>
          </p:nvPr>
        </p:nvSpPr>
        <p:spPr>
          <a:xfrm>
            <a:off x="838200" y="6410140"/>
            <a:ext cx="2743200" cy="365125"/>
          </a:xfrm>
          <a:prstGeom prst="rect">
            <a:avLst/>
          </a:prstGeom>
        </p:spPr>
        <p:txBody>
          <a:bodyPr/>
          <a:lstStyle>
            <a:lvl1pPr>
              <a:defRPr>
                <a:solidFill>
                  <a:schemeClr val="tx2">
                    <a:lumMod val="75000"/>
                  </a:schemeClr>
                </a:solidFill>
              </a:defRPr>
            </a:lvl1pPr>
          </a:lstStyle>
          <a:p>
            <a:fld id="{86BA785E-6E67-4B64-B9BE-8B3417A9CC68}" type="datetimeFigureOut">
              <a:rPr lang="en-US" smtClean="0"/>
              <a:t/>
            </a:fld>
            <a:endParaRPr lang="en-US"/>
          </a:p>
        </p:txBody>
      </p:sp>
      <p:sp>
        <p:nvSpPr>
          <p:cNvPr id="16" name="Footer Placeholder 7"/>
          <p:cNvSpPr>
            <a:spLocks noGrp="1" noEditPoints="1"/>
          </p:cNvSpPr>
          <p:nvPr>
            <p:ph type="ftr" sz="quarter" idx="3"/>
          </p:nvPr>
        </p:nvSpPr>
        <p:spPr>
          <a:xfrm>
            <a:off x="4038600" y="6410140"/>
            <a:ext cx="4114800" cy="365125"/>
          </a:xfrm>
          <a:prstGeom prst="rect">
            <a:avLst/>
          </a:prstGeom>
        </p:spPr>
        <p:txBody>
          <a:bodyPr/>
          <a:lstStyle>
            <a:lvl1pPr>
              <a:defRPr>
                <a:solidFill>
                  <a:schemeClr val="tx2">
                    <a:lumMod val="75000"/>
                  </a:schemeClr>
                </a:solidFill>
              </a:defRPr>
            </a:lvl1pPr>
          </a:lstStyle>
          <a:p>
            <a:endParaRPr lang="ru-RU" altLang="en-US"/>
          </a:p>
        </p:txBody>
      </p:sp>
      <p:sp>
        <p:nvSpPr>
          <p:cNvPr id="17" name="Slide Number Placeholder 8"/>
          <p:cNvSpPr>
            <a:spLocks noGrp="1" noEditPoints="1"/>
          </p:cNvSpPr>
          <p:nvPr>
            <p:ph type="sldNum" sz="quarter" idx="4"/>
          </p:nvPr>
        </p:nvSpPr>
        <p:spPr>
          <a:xfrm>
            <a:off x="8610600" y="6410140"/>
            <a:ext cx="2743200" cy="365125"/>
          </a:xfrm>
          <a:prstGeom prst="rect">
            <a:avLst/>
          </a:prstGeom>
        </p:spPr>
        <p:txBody>
          <a:bodyPr/>
          <a:lstStyle>
            <a:lvl1pPr>
              <a:defRPr>
                <a:solidFill>
                  <a:schemeClr val="tx2">
                    <a:lumMod val="75000"/>
                  </a:schemeClr>
                </a:solidFill>
              </a:defRPr>
            </a:lvl1pPr>
          </a:lstStyle>
          <a:p>
            <a:fld id="{BBF4351E-3AFC-49FF-AC85-ADC9489D25D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dt="0" sldNum="0" hdr="0" ftr="0"/>
  <p:txStyles>
    <p:titleStyle>
      <a:lvl1pPr algn="l" defTabSz="914400" rtl="0" eaLnBrk="1" latinLnBrk="0" hangingPunct="1">
        <a:lnSpc>
          <a:spcPct val="90000"/>
        </a:lnSpc>
        <a:spcBef>
          <a:spcPct val="0"/>
        </a:spcBef>
        <a:buNone/>
        <a:defRPr sz="4400" kern="1200">
          <a:solidFill>
            <a:schemeClr val="tx2">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ctrTitle"/>
          </p:nvPr>
        </p:nvSpPr>
        <p:spPr>
          <a:xfrm>
            <a:off x="713362" y="1823209"/>
            <a:ext cx="11251660" cy="2387600"/>
          </a:xfrm>
        </p:spPr>
        <p:txBody>
          <a:bodyPr/>
          <a:lstStyle/>
          <a:p>
            <a:r>
              <a:rPr lang="ru-RU" altLang="en-US"/>
              <a:t>Индивидуальный проект </a:t>
            </a:r>
          </a:p>
          <a:p>
            <a:r>
              <a:rPr lang="ru-RU" altLang="en-US" sz="5400"/>
              <a:t>"Анализ и декомпозиция метрик продукта"</a:t>
            </a:r>
          </a:p>
        </p:txBody>
      </p:sp>
      <p:sp>
        <p:nvSpPr>
          <p:cNvPr id="3" name="Подзаголовок 2"/>
          <p:cNvSpPr>
            <a:spLocks noGrp="1" noEditPoints="1"/>
          </p:cNvSpPr>
          <p:nvPr>
            <p:ph type="subTitle" idx="1"/>
          </p:nvPr>
        </p:nvSpPr>
        <p:spPr>
          <a:xfrm>
            <a:off x="4709576" y="6349884"/>
            <a:ext cx="9144000" cy="508116"/>
          </a:xfrm>
        </p:spPr>
        <p:txBody>
          <a:bodyPr/>
          <a:lstStyle/>
          <a:p>
            <a:r>
              <a:rPr lang="ru-RU" altLang="en-US" sz="1800" i="0"/>
              <a:t>Выполнила: Нигманова Милена Маратовна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p:txBody>
          <a:bodyPr/>
          <a:lstStyle/>
          <a:p>
            <a:r>
              <a:rPr lang="ru-RU" sz="3600"/>
              <a:t>Задание 2.1. Портрет целевой аудитории стримингового сервиса</a:t>
            </a:r>
            <a:r>
              <a:rPr lang="ru-RU"/>
              <a:t> </a:t>
            </a:r>
          </a:p>
        </p:txBody>
      </p:sp>
      <p:sp>
        <p:nvSpPr>
          <p:cNvPr id="3" name="Заполнитель контента 2"/>
          <p:cNvSpPr>
            <a:spLocks noGrp="1" noEditPoints="1"/>
          </p:cNvSpPr>
          <p:nvPr>
            <p:ph idx="1"/>
          </p:nvPr>
        </p:nvSpPr>
        <p:spPr>
          <a:xfrm>
            <a:off x="838200" y="1188811"/>
            <a:ext cx="10764027" cy="4721452"/>
          </a:xfrm>
        </p:spPr>
        <p:txBody>
          <a:bodyPr/>
          <a:lstStyle/>
          <a:p>
            <a:pPr marL="0" indent="0">
              <a:buNone/>
            </a:pPr>
            <a:endParaRPr lang="ru-RU" sz="2800" b="1"/>
          </a:p>
          <a:p>
            <a:pPr>
              <a:lnSpc>
                <a:spcPct val="115000"/>
              </a:lnSpc>
              <a:buFont typeface="Arial" pitchFamily="34" charset="0" panose="020B0604020202020204"/>
              <a:buChar char="•"/>
            </a:pPr>
            <a:r>
              <a:rPr lang="ru-RU" sz="2400" b="1"/>
              <a:t>Пол:</a:t>
            </a:r>
            <a:r>
              <a:rPr lang="ru-RU" sz="2400"/>
              <a:t> мужчины и женщины (платформа ориентирована на оба пола)</a:t>
            </a:r>
          </a:p>
          <a:p>
            <a:pPr>
              <a:lnSpc>
                <a:spcPct val="115000"/>
              </a:lnSpc>
              <a:buFont typeface="Arial" pitchFamily="34" charset="0" panose="020B0604020202020204"/>
              <a:buChar char="•"/>
            </a:pPr>
            <a:r>
              <a:rPr lang="ru-RU" sz="2400" b="1"/>
              <a:t>Возраст:</a:t>
            </a:r>
            <a:r>
              <a:rPr lang="ru-RU" sz="2400"/>
              <a:t> 18-45 лет</a:t>
            </a:r>
          </a:p>
          <a:p>
            <a:pPr>
              <a:lnSpc>
                <a:spcPct val="115000"/>
              </a:lnSpc>
              <a:buFont typeface="Arial" pitchFamily="34" charset="0" panose="020B0604020202020204"/>
              <a:buChar char="•"/>
            </a:pPr>
            <a:r>
              <a:rPr lang="ru-RU" sz="2400" b="1"/>
              <a:t>Интересы:</a:t>
            </a:r>
            <a:r>
              <a:rPr lang="ru-RU" sz="2400"/>
              <a:t> кино, сериалы, культура, искусство</a:t>
            </a:r>
          </a:p>
          <a:p>
            <a:pPr>
              <a:lnSpc>
                <a:spcPct val="115000"/>
              </a:lnSpc>
              <a:buFont typeface="Arial" pitchFamily="34" charset="0" panose="020B0604020202020204"/>
              <a:buChar char="•"/>
            </a:pPr>
            <a:r>
              <a:rPr lang="ru-RU" sz="2400" b="1"/>
              <a:t>Заработок:</a:t>
            </a:r>
            <a:r>
              <a:rPr lang="ru-RU" sz="2400"/>
              <a:t> средний и выше среднего (от 50 тыс.руб./мес.)</a:t>
            </a:r>
          </a:p>
          <a:p>
            <a:pPr>
              <a:lnSpc>
                <a:spcPct val="115000"/>
              </a:lnSpc>
              <a:buFont typeface="Arial" pitchFamily="34" charset="0" panose="020B0604020202020204"/>
              <a:buChar char="•"/>
            </a:pPr>
            <a:r>
              <a:rPr lang="ru-RU" sz="2400" b="1"/>
              <a:t>Черты характера:</a:t>
            </a:r>
            <a:r>
              <a:rPr lang="ru-RU" sz="2400"/>
              <a:t> открытость к новому, ценность личного времени, стремление к свободе выбора, желание быть в курсе трендов</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a:xfrm>
            <a:off x="81604" y="-348237"/>
            <a:ext cx="10515600" cy="1325563"/>
          </a:xfrm>
        </p:spPr>
        <p:txBody>
          <a:bodyPr/>
          <a:lstStyle/>
          <a:p>
            <a:r>
              <a:rPr lang="ru-RU" sz="3600"/>
              <a:t>Задание 2.2</a:t>
            </a:r>
            <a:r>
              <a:rPr lang="en-US" sz="3600"/>
              <a:t> CJM</a:t>
            </a:r>
            <a:endParaRPr sz="3600"/>
          </a:p>
        </p:txBody>
      </p:sp>
      <p:sp>
        <p:nvSpPr>
          <p:cNvPr id="3" name="Заполнитель контента 2"/>
          <p:cNvSpPr>
            <a:spLocks noGrp="1" noEditPoints="1"/>
          </p:cNvSpPr>
          <p:nvPr>
            <p:ph idx="1"/>
          </p:nvPr>
        </p:nvSpPr>
        <p:spPr/>
        <p:txBody>
          <a:bodyPr/>
          <a:lstStyle/>
          <a:p/>
        </p:txBody>
      </p:sp>
      <p:graphicFrame>
        <p:nvGraphicFramePr>
          <p:cNvPr id="5" name="Таблица 4"/>
          <p:cNvGraphicFramePr>
            <a:graphicFrameLocks noGrp="1"/>
          </p:cNvGraphicFramePr>
          <p:nvPr/>
        </p:nvGraphicFramePr>
        <p:xfrm>
          <a:off x="0" y="548038"/>
          <a:ext cx="12197443" cy="6750628"/>
        </p:xfrm>
        <a:graphic>
          <a:graphicData uri="http://schemas.openxmlformats.org/drawingml/2006/table">
            <a:tbl>
              <a:tblPr firstRow="1" firstCol="1" bandRow="1">
                <a:tableStyleId>{93296810-A885-4BE3-A3E7-6D5BEEA58F35}</a:tableStyleId>
              </a:tblPr>
              <a:tblGrid>
                <a:gridCol w="636814"/>
                <a:gridCol w="2188936"/>
                <a:gridCol w="2633436"/>
                <a:gridCol w="2149384"/>
                <a:gridCol w="2030730"/>
                <a:gridCol w="2558143"/>
              </a:tblGrid>
              <a:tr h="800702">
                <a:tc>
                  <a:txBody>
                    <a:bodyPr/>
                    <a:lstStyle/>
                    <a:p>
                      <a:r>
                        <a:rPr lang="ru-RU" sz="1200"/>
                        <a:t>Этап</a:t>
                      </a:r>
                      <a:endParaRPr lang="en-US" sz="1100"/>
                    </a:p>
                  </a:txBody>
                  <a:tcPr/>
                </a:tc>
                <a:tc>
                  <a:txBody>
                    <a:bodyPr/>
                    <a:lstStyle/>
                    <a:p>
                      <a:r>
                        <a:rPr lang="ru-RU" sz="1100" u="none" strike="noStrike"/>
                        <a:t>Осознание потребности (1-2 часа)</a:t>
                      </a:r>
                      <a:endParaRPr lang="en-US" sz="1100"/>
                    </a:p>
                  </a:txBody>
                  <a:tcPr/>
                </a:tc>
                <a:tc>
                  <a:txBody>
                    <a:bodyPr/>
                    <a:lstStyle/>
                    <a:p>
                      <a:r>
                        <a:rPr lang="ru-RU" sz="1100" u="none" strike="noStrike"/>
                        <a:t>Исследование и выбор сервиса (1-2 дня)</a:t>
                      </a:r>
                      <a:endParaRPr lang="en-US" sz="1100"/>
                    </a:p>
                  </a:txBody>
                  <a:tcPr/>
                </a:tc>
                <a:tc>
                  <a:txBody>
                    <a:bodyPr/>
                    <a:lstStyle/>
                    <a:p>
                      <a:r>
                        <a:rPr lang="ru-RU" sz="1100" u="none" strike="noStrike"/>
                        <a:t>Регистрация и оформление подписки (10-20 минут)</a:t>
                      </a:r>
                      <a:endParaRPr lang="en-US" sz="1100"/>
                    </a:p>
                  </a:txBody>
                  <a:tcPr/>
                </a:tc>
                <a:tc>
                  <a:txBody>
                    <a:bodyPr/>
                    <a:lstStyle/>
                    <a:p>
                      <a:r>
                        <a:rPr lang="ru-RU" sz="1100" u="none" strike="noStrike"/>
                        <a:t>Использование контента и настройка сервиса (1-2 часа)</a:t>
                      </a:r>
                      <a:endParaRPr lang="en-US" sz="1100"/>
                    </a:p>
                  </a:txBody>
                  <a:tcPr/>
                </a:tc>
                <a:tc>
                  <a:txBody>
                    <a:bodyPr/>
                    <a:lstStyle/>
                    <a:p>
                      <a:r>
                        <a:rPr lang="ru-RU" sz="1100" u="none" strike="noStrike"/>
                        <a:t>Пост-использование и продление подписки </a:t>
                      </a:r>
                      <a:endParaRPr lang="en-US" sz="1100"/>
                    </a:p>
                  </a:txBody>
                  <a:tcPr/>
                </a:tc>
              </a:tr>
              <a:tr h="820649">
                <a:tc>
                  <a:txBody>
                    <a:bodyPr/>
                    <a:lstStyle/>
                    <a:p>
                      <a:r>
                        <a:rPr lang="ru-RU" sz="1100"/>
                        <a:t>Что происходит</a:t>
                      </a:r>
                      <a:endParaRPr lang="en-US" sz="1200"/>
                    </a:p>
                  </a:txBody>
                  <a:tcPr/>
                </a:tc>
                <a:tc>
                  <a:txBody>
                    <a:bodyPr/>
                    <a:lstStyle/>
                    <a:p>
                      <a:pPr>
                        <a:lnSpc>
                          <a:spcPct val="100000"/>
                        </a:lnSpc>
                      </a:pPr>
                      <a:r>
                        <a:rPr lang="ru-RU" sz="800" u="none" strike="noStrike"/>
                        <a:t>Ваня устал от просмотра старых сериалов и фильмов на пиратских сайтах и по телевизору. Он хочет найти качественный сервис без рекламы по доступной цене и с хорошим контентом.</a:t>
                      </a:r>
                      <a:endParaRPr lang="en-US" sz="800"/>
                    </a:p>
                  </a:txBody>
                  <a:tcPr/>
                </a:tc>
                <a:tc>
                  <a:txBody>
                    <a:bodyPr/>
                    <a:lstStyle/>
                    <a:p>
                      <a:pPr>
                        <a:lnSpc>
                          <a:spcPct val="100000"/>
                        </a:lnSpc>
                      </a:pPr>
                      <a:r>
                        <a:rPr lang="ru-RU" sz="800" u="none" strike="noStrike"/>
                        <a:t>Ваня продолжает исследовать доступные стриминговые сервисы и ищет наиболее подходящий вариант по контенту и цене.</a:t>
                      </a:r>
                      <a:endParaRPr lang="en-US" sz="800"/>
                    </a:p>
                  </a:txBody>
                  <a:tcPr/>
                </a:tc>
                <a:tc>
                  <a:txBody>
                    <a:bodyPr/>
                    <a:lstStyle/>
                    <a:p>
                      <a:pPr>
                        <a:lnSpc>
                          <a:spcPct val="100000"/>
                        </a:lnSpc>
                      </a:pPr>
                      <a:r>
                        <a:rPr lang="ru-RU" sz="800" u="none" strike="noStrike"/>
                        <a:t>Ваня решает подписаться на сервис, выбирает тариф и оформляет подписку.</a:t>
                      </a:r>
                      <a:endParaRPr lang="en-US" sz="800"/>
                    </a:p>
                  </a:txBody>
                  <a:tcPr/>
                </a:tc>
                <a:tc>
                  <a:txBody>
                    <a:bodyPr/>
                    <a:lstStyle/>
                    <a:p>
                      <a:pPr>
                        <a:lnSpc>
                          <a:spcPct val="100000"/>
                        </a:lnSpc>
                      </a:pPr>
                      <a:r>
                        <a:rPr lang="ru-RU" sz="800" u="none" strike="noStrike"/>
                        <a:t>Ваня начинает смотреть контент и настраивает сервис под свои предпочтения.</a:t>
                      </a:r>
                      <a:endParaRPr lang="en-US" sz="800"/>
                    </a:p>
                  </a:txBody>
                  <a:tcPr/>
                </a:tc>
                <a:tc>
                  <a:txBody>
                    <a:bodyPr/>
                    <a:lstStyle/>
                    <a:p>
                      <a:pPr>
                        <a:lnSpc>
                          <a:spcPct val="100000"/>
                        </a:lnSpc>
                      </a:pPr>
                      <a:r>
                        <a:rPr lang="ru-RU" sz="800" u="none" strike="noStrike"/>
                        <a:t>Ваня решает, стоит ли продлить подписку, в зависимости от качества сервиса и контента.</a:t>
                      </a:r>
                      <a:endParaRPr lang="en-US" sz="800"/>
                    </a:p>
                  </a:txBody>
                  <a:tcPr/>
                </a:tc>
              </a:tr>
              <a:tr h="979714">
                <a:tc>
                  <a:txBody>
                    <a:bodyPr/>
                    <a:lstStyle/>
                    <a:p>
                      <a:r>
                        <a:rPr lang="ru-RU" sz="1200"/>
                        <a:t>Каналы </a:t>
                      </a:r>
                      <a:endParaRPr lang="en-US" sz="1200"/>
                    </a:p>
                  </a:txBody>
                  <a:tcPr/>
                </a:tc>
                <a:tc>
                  <a:txBody>
                    <a:bodyPr/>
                    <a:lstStyle/>
                    <a:p>
                      <a:pPr marL="0" marR="0" indent="0" algn="l">
                        <a:lnSpc>
                          <a:spcPct val="100000"/>
                        </a:lnSpc>
                        <a:spcBef>
                          <a:spcPts val="0"/>
                        </a:spcBef>
                        <a:spcAft>
                          <a:spcPts val="800"/>
                        </a:spcAft>
                        <a:buFont typeface="Arial" pitchFamily="34" charset="0" panose="020B0604020202020204"/>
                        <a:buNone/>
                      </a:pPr>
                      <a:r>
                        <a:rPr lang="ru-RU" sz="800" u="none" strike="noStrike"/>
                        <a:t>1) Поиск в интернете                             2) Социальные сети                                   3) Рекомендации от друзей</a:t>
                      </a:r>
                      <a:endParaRPr lang="en-US" sz="800"/>
                    </a:p>
                  </a:txBody>
                  <a:tcPr/>
                </a:tc>
                <a:tc>
                  <a:txBody>
                    <a:bodyPr/>
                    <a:lstStyle/>
                    <a:p>
                      <a:pPr marL="0" marR="0" indent="0" algn="l">
                        <a:lnSpc>
                          <a:spcPct val="100000"/>
                        </a:lnSpc>
                        <a:spcBef>
                          <a:spcPts val="0"/>
                        </a:spcBef>
                        <a:spcAft>
                          <a:spcPts val="800"/>
                        </a:spcAft>
                      </a:pPr>
                      <a:r>
                        <a:rPr lang="ru-RU" sz="800" u="none" strike="noStrike"/>
                        <a:t>1) Веб-сайты (сравнительные сайты, платформы с отзывами)         2) Социальные сети (YouTube, TikTok)                                               3) Форумы и блоги</a:t>
                      </a:r>
                      <a:endParaRPr lang="en-US" sz="800"/>
                    </a:p>
                  </a:txBody>
                  <a:tcPr/>
                </a:tc>
                <a:tc>
                  <a:txBody>
                    <a:bodyPr/>
                    <a:lstStyle/>
                    <a:p>
                      <a:pPr marL="0" marR="0" indent="0" algn="l">
                        <a:lnSpc>
                          <a:spcPct val="100000"/>
                        </a:lnSpc>
                        <a:spcBef>
                          <a:spcPts val="0"/>
                        </a:spcBef>
                        <a:spcAft>
                          <a:spcPts val="800"/>
                        </a:spcAft>
                      </a:pPr>
                      <a:r>
                        <a:rPr lang="ru-RU" sz="800" u="none" strike="noStrike"/>
                        <a:t>1) Веб-сайт или мобильное приложение (регистрация, оформление подписки)                             2) Электронная почта (подтверждение регистрации)                     3) Платежные системы (Visa, MasterCard и др.)</a:t>
                      </a:r>
                      <a:endParaRPr lang="en-US" sz="800"/>
                    </a:p>
                  </a:txBody>
                  <a:tcPr/>
                </a:tc>
                <a:tc>
                  <a:txBody>
                    <a:bodyPr/>
                    <a:lstStyle/>
                    <a:p>
                      <a:pPr marL="0" marR="0" indent="0" algn="l">
                        <a:lnSpc>
                          <a:spcPct val="100000"/>
                        </a:lnSpc>
                        <a:spcBef>
                          <a:spcPts val="0"/>
                        </a:spcBef>
                        <a:spcAft>
                          <a:spcPts val="800"/>
                        </a:spcAft>
                      </a:pPr>
                      <a:r>
                        <a:rPr lang="ru-RU" sz="800" u="none" strike="noStrike"/>
                        <a:t>1) Мобильное приложение или веб-сайт (поиск контента, настройки)                                                2) Платформа для рекомендаций (рекомендательная система, избранное)                                             3) Платформы для скачивания контента </a:t>
                      </a:r>
                      <a:endParaRPr lang="en-US" sz="800"/>
                    </a:p>
                  </a:txBody>
                  <a:tcPr/>
                </a:tc>
                <a:tc>
                  <a:txBody>
                    <a:bodyPr/>
                    <a:lstStyle/>
                    <a:p>
                      <a:pPr marL="0" marR="0" indent="0" algn="l">
                        <a:lnSpc>
                          <a:spcPct val="100000"/>
                        </a:lnSpc>
                        <a:spcBef>
                          <a:spcPts val="0"/>
                        </a:spcBef>
                        <a:spcAft>
                          <a:spcPts val="800"/>
                        </a:spcAft>
                      </a:pPr>
                      <a:r>
                        <a:rPr lang="ru-RU" sz="800" u="none" strike="noStrike"/>
                        <a:t>1) Мобильное приложение или веб-сайт (управление подпиской, просмотр контента)                                                           2) Электронная почта (напоминания о продлении подписки, акции)                                     3) Социальные сети (рекомендации, общение с друзьями)</a:t>
                      </a:r>
                      <a:endParaRPr lang="en-US" sz="800"/>
                    </a:p>
                  </a:txBody>
                  <a:tcPr/>
                </a:tc>
              </a:tr>
              <a:tr h="2266690">
                <a:tc>
                  <a:txBody>
                    <a:bodyPr/>
                    <a:lstStyle/>
                    <a:p>
                      <a:r>
                        <a:rPr lang="ru-RU" sz="1200"/>
                        <a:t>Действия Вани</a:t>
                      </a:r>
                      <a:endParaRPr lang="en-US" sz="1200"/>
                    </a:p>
                  </a:txBody>
                  <a:tcPr/>
                </a:tc>
                <a:tc>
                  <a:txBody>
                    <a:bodyPr/>
                    <a:lstStyle/>
                    <a:p>
                      <a:pPr marL="0" marR="0" indent="0" algn="l">
                        <a:lnSpc>
                          <a:spcPct val="100000"/>
                        </a:lnSpc>
                        <a:spcBef>
                          <a:spcPts val="0"/>
                        </a:spcBef>
                        <a:spcAft>
                          <a:spcPts val="800"/>
                        </a:spcAft>
                      </a:pPr>
                      <a:r>
                        <a:rPr lang="ru-RU" sz="800" u="none" strike="noStrike"/>
                        <a:t>1) Открывает браузер и начинает искать информацию о стриминговых сервисах.                                                                                 2) Обсуждает с друзьями, какие платформы они используют для просмотра фильмов и сериалов.                 3) Ознакомляется стриминговыми платформами через рекламу блогеров в социальных сетях.</a:t>
                      </a:r>
                      <a:endParaRPr lang="en-US" sz="800"/>
                    </a:p>
                  </a:txBody>
                  <a:tcPr/>
                </a:tc>
                <a:tc>
                  <a:txBody>
                    <a:bodyPr/>
                    <a:lstStyle/>
                    <a:p>
                      <a:pPr marL="0" marR="0" indent="0" algn="l">
                        <a:lnSpc>
                          <a:spcPct val="100000"/>
                        </a:lnSpc>
                        <a:spcBef>
                          <a:spcPts val="0"/>
                        </a:spcBef>
                        <a:spcAft>
                          <a:spcPts val="800"/>
                        </a:spcAft>
                      </a:pPr>
                      <a:r>
                        <a:rPr lang="ru-RU" sz="800" u="none" strike="noStrike"/>
                        <a:t>1) Сравнивает различные тарифные планы на сервисах.                                                             2) Проверяет наличие промокодов, скидок или бонусов для новых пользователей.                3) Смотрит, какие сервисы предлагают эксклюзивный контент, который ему интересен (например, новый сезон любимого сериала).                                                                  4) Изучает дополнительные функции (например, возможность смотреть контент в разных странах, возможность скачивания). 5) Читает подробные обзоры и комментарии пользователей на форумах и сайтах с отзывами.                                                                                  6) Смотрит видеоблоги с рекомендациями о стриминговых сервисах, чтобы узнать мнения экспертов.</a:t>
                      </a:r>
                      <a:endParaRPr lang="en-US" sz="800"/>
                    </a:p>
                  </a:txBody>
                  <a:tcPr/>
                </a:tc>
                <a:tc>
                  <a:txBody>
                    <a:bodyPr/>
                    <a:lstStyle/>
                    <a:p>
                      <a:pPr marL="0" marR="0" indent="0" algn="l">
                        <a:lnSpc>
                          <a:spcPct val="100000"/>
                        </a:lnSpc>
                        <a:spcBef>
                          <a:spcPts val="0"/>
                        </a:spcBef>
                        <a:spcAft>
                          <a:spcPts val="800"/>
                        </a:spcAft>
                      </a:pPr>
                      <a:r>
                        <a:rPr lang="ru-RU" sz="800" u="none" strike="noStrike"/>
                        <a:t>1) Заходит на сайт выбранного сервиса или открывает мобильное приложение.                                                    2) Регистрируется на платформе, вводит свою электронную почту и создает профиль.                                           3) Выбирает подходящий тарифный план.                                                               4) Вводит данные для оплаты и подтверждает оплату.</a:t>
                      </a:r>
                      <a:endParaRPr lang="en-US" sz="800"/>
                    </a:p>
                  </a:txBody>
                  <a:tcPr/>
                </a:tc>
                <a:tc>
                  <a:txBody>
                    <a:bodyPr/>
                    <a:lstStyle/>
                    <a:p>
                      <a:pPr marL="0" marR="0" indent="0" algn="l">
                        <a:lnSpc>
                          <a:spcPct val="100000"/>
                        </a:lnSpc>
                        <a:spcBef>
                          <a:spcPts val="0"/>
                        </a:spcBef>
                        <a:spcAft>
                          <a:spcPts val="800"/>
                        </a:spcAft>
                      </a:pPr>
                      <a:r>
                        <a:rPr lang="ru-RU" sz="800" u="none" strike="noStrike"/>
                        <a:t>1) Открывает главный экран и начинает искать фильмы или сериалы, которые хочет посмотреть.                                             2) Добавляет понравившиеся фильмы в "Избранное" для быстрого доступа.                                     3) Настраивает рекомендательную систему в аккаунте, выбирает предпочтительные жанры и фильмы.                                              4) Пробует разные функции платформы: скачивание контента, создание списков для просмотра и т.д.                                                        5) Проверяет качество видео и подстраивает настройки качества (например, 4K, HD).</a:t>
                      </a:r>
                      <a:endParaRPr lang="en-US" sz="800"/>
                    </a:p>
                  </a:txBody>
                  <a:tcPr/>
                </a:tc>
                <a:tc>
                  <a:txBody>
                    <a:bodyPr/>
                    <a:lstStyle/>
                    <a:p>
                      <a:pPr marL="0" marR="0" indent="0" algn="l">
                        <a:lnSpc>
                          <a:spcPct val="100000"/>
                        </a:lnSpc>
                        <a:spcBef>
                          <a:spcPts val="0"/>
                        </a:spcBef>
                        <a:spcAft>
                          <a:spcPts val="800"/>
                        </a:spcAft>
                      </a:pPr>
                      <a:r>
                        <a:rPr lang="ru-RU" sz="800" u="none" strike="noStrike"/>
                        <a:t>1) Оценивает, насколько ему понравился сервис в процессе использования.                        2) Проверяет условия продления подписки, проверяет, есть ли скидки или акции для текущих пользователей.                     3) Примет решение о продлении подписки или ее отмене в зависимости от контента и условий сервиса.</a:t>
                      </a:r>
                      <a:endParaRPr lang="en-US" sz="800"/>
                    </a:p>
                  </a:txBody>
                  <a:tcPr/>
                </a:tc>
              </a:tr>
              <a:tr h="1652246">
                <a:tc>
                  <a:txBody>
                    <a:bodyPr/>
                    <a:lstStyle/>
                    <a:p>
                      <a:r>
                        <a:rPr lang="ru-RU" sz="1200"/>
                        <a:t>Мысли</a:t>
                      </a:r>
                      <a:endParaRPr lang="en-US" sz="1200"/>
                    </a:p>
                  </a:txBody>
                  <a:tcPr/>
                </a:tc>
                <a:tc>
                  <a:txBody>
                    <a:bodyPr/>
                    <a:lstStyle/>
                    <a:p>
                      <a:pPr marL="0" marR="0" indent="0" algn="l">
                        <a:lnSpc>
                          <a:spcPct val="100000"/>
                        </a:lnSpc>
                        <a:spcBef>
                          <a:spcPts val="0"/>
                        </a:spcBef>
                        <a:spcAft>
                          <a:spcPts val="800"/>
                        </a:spcAft>
                      </a:pPr>
                      <a:r>
                        <a:rPr lang="ru-RU" sz="800" b="1" i="0" u="none" strike="noStrike"/>
                        <a:t>Положительные:</a:t>
                      </a:r>
                      <a:r>
                        <a:rPr lang="ru-RU" sz="800" u="none" strike="noStrike"/>
                        <a:t> "Надеюсь, что есть сервисы без рекламы и плохого качества".                                  </a:t>
                      </a:r>
                      <a:r>
                        <a:rPr lang="ru-RU" sz="800" b="1" u="none" strike="noStrike"/>
                        <a:t>Негативные:</a:t>
                      </a:r>
                      <a:r>
                        <a:rPr lang="ru-RU" sz="800" u="none" strike="noStrike"/>
                        <a:t> "Сколько сервисов существует? Как выбрать подходящий?"</a:t>
                      </a:r>
                      <a:endParaRPr lang="en-US" sz="800"/>
                    </a:p>
                  </a:txBody>
                  <a:tcPr/>
                </a:tc>
                <a:tc>
                  <a:txBody>
                    <a:bodyPr/>
                    <a:lstStyle/>
                    <a:p>
                      <a:pPr marL="0" marR="0" indent="0" algn="l">
                        <a:lnSpc>
                          <a:spcPct val="100000"/>
                        </a:lnSpc>
                        <a:spcBef>
                          <a:spcPts val="0"/>
                        </a:spcBef>
                        <a:spcAft>
                          <a:spcPts val="800"/>
                        </a:spcAft>
                      </a:pPr>
                      <a:r>
                        <a:rPr lang="ru-RU" sz="800" b="1" u="none" strike="noStrike"/>
                        <a:t>Положительные:</a:t>
                      </a:r>
                      <a:r>
                        <a:rPr lang="ru-RU" sz="800" u="none" strike="noStrike"/>
                        <a:t> "О, этот сервис выглядит неплохо, у них много интересных сериалов".   </a:t>
                      </a:r>
                      <a:r>
                        <a:rPr lang="ru-RU" sz="800" b="1" u="none" strike="noStrike"/>
                        <a:t>Негативные: </a:t>
                      </a:r>
                      <a:r>
                        <a:rPr lang="ru-RU" sz="800" u="none" strike="noStrike"/>
                        <a:t>"Столько сервисов! Как выбрать лучший? И что если этот окажется не таким хорошим?"</a:t>
                      </a:r>
                      <a:endParaRPr lang="en-US" sz="800"/>
                    </a:p>
                  </a:txBody>
                  <a:tcPr/>
                </a:tc>
                <a:tc>
                  <a:txBody>
                    <a:bodyPr/>
                    <a:lstStyle/>
                    <a:p>
                      <a:pPr marL="0" marR="0" indent="0" algn="l">
                        <a:lnSpc>
                          <a:spcPct val="100000"/>
                        </a:lnSpc>
                        <a:spcBef>
                          <a:spcPts val="0"/>
                        </a:spcBef>
                        <a:spcAft>
                          <a:spcPts val="800"/>
                        </a:spcAft>
                      </a:pPr>
                      <a:r>
                        <a:rPr lang="ru-RU" sz="800" b="1" u="none" strike="noStrike"/>
                        <a:t>Положительные:</a:t>
                      </a:r>
                      <a:r>
                        <a:rPr lang="ru-RU" sz="800" u="none" strike="noStrike"/>
                        <a:t> "Надеюсь, сервис оправдает ожидания. Теперь я смогу смотреть всё, что хочу".                         </a:t>
                      </a:r>
                      <a:r>
                        <a:rPr lang="ru-RU" sz="800" b="1" u="none" strike="noStrike"/>
                        <a:t>Негативные: </a:t>
                      </a:r>
                      <a:r>
                        <a:rPr lang="ru-RU" sz="800" u="none" strike="noStrike"/>
                        <a:t>"Надеюсь, что никаких неожиданных скрытых расходов не будет. Не совсем понятны условия подписки".</a:t>
                      </a:r>
                      <a:endParaRPr lang="en-US" sz="800"/>
                    </a:p>
                  </a:txBody>
                  <a:tcPr/>
                </a:tc>
                <a:tc>
                  <a:txBody>
                    <a:bodyPr/>
                    <a:lstStyle/>
                    <a:p>
                      <a:pPr marL="0" marR="0" indent="0" algn="l">
                        <a:lnSpc>
                          <a:spcPct val="100000"/>
                        </a:lnSpc>
                        <a:spcBef>
                          <a:spcPts val="0"/>
                        </a:spcBef>
                        <a:spcAft>
                          <a:spcPts val="800"/>
                        </a:spcAft>
                      </a:pPr>
                      <a:r>
                        <a:rPr lang="ru-RU" sz="800" b="1" u="none" strike="noStrike"/>
                        <a:t>Положительные:</a:t>
                      </a:r>
                      <a:r>
                        <a:rPr lang="ru-RU" sz="800" u="none" strike="noStrike"/>
                        <a:t> "Качество отличное! Всё работает, как обещано, без рекламы".                                    </a:t>
                      </a:r>
                      <a:r>
                        <a:rPr lang="ru-RU" sz="800" b="1" u="none" strike="noStrike"/>
                        <a:t>Негативные: </a:t>
                      </a:r>
                      <a:r>
                        <a:rPr lang="ru-RU" sz="800" u="none" strike="noStrike"/>
                        <a:t>"Интерфейс не совсем удобный, может быть, стоит привыкнуть. Хотелось бы больше фильмов".</a:t>
                      </a:r>
                      <a:endParaRPr lang="en-US" sz="800"/>
                    </a:p>
                  </a:txBody>
                  <a:tcPr/>
                </a:tc>
                <a:tc>
                  <a:txBody>
                    <a:bodyPr/>
                    <a:lstStyle/>
                    <a:p>
                      <a:pPr marL="0" marR="0" indent="0" algn="l">
                        <a:lnSpc>
                          <a:spcPct val="100000"/>
                        </a:lnSpc>
                        <a:spcBef>
                          <a:spcPts val="0"/>
                        </a:spcBef>
                        <a:spcAft>
                          <a:spcPts val="800"/>
                        </a:spcAft>
                      </a:pPr>
                      <a:r>
                        <a:rPr lang="ru-RU" sz="800" b="1" u="none" strike="noStrike"/>
                        <a:t>Положительные:</a:t>
                      </a:r>
                      <a:r>
                        <a:rPr lang="ru-RU" sz="800" u="none" strike="noStrike"/>
                        <a:t> "Мне действительно нравится этот сервис, контента хватает, и качество отличное".                            </a:t>
                      </a:r>
                      <a:r>
                        <a:rPr lang="ru-RU" sz="800" b="1" u="none" strike="noStrike"/>
                        <a:t>Негативные:</a:t>
                      </a:r>
                      <a:r>
                        <a:rPr lang="ru-RU" sz="800" u="none" strike="noStrike"/>
                        <a:t> "Ну вот, подписка скоро закончится, а контента стало меньше. Может, попробовать что-то другое?"</a:t>
                      </a:r>
                      <a:endParaRPr lang="en-US" sz="800"/>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p:txBody>
          <a:bodyPr/>
          <a:lstStyle/>
          <a:p>
            <a:r>
              <a:rPr lang="ru-RU" sz="3600"/>
              <a:t>Задание 3.1. Тезис, отражающий позиционирование продукта</a:t>
            </a:r>
          </a:p>
        </p:txBody>
      </p:sp>
      <p:sp>
        <p:nvSpPr>
          <p:cNvPr id="3" name="Заполнитель контента 2"/>
          <p:cNvSpPr>
            <a:spLocks noGrp="1" noEditPoints="1"/>
          </p:cNvSpPr>
          <p:nvPr>
            <p:ph idx="1"/>
          </p:nvPr>
        </p:nvSpPr>
        <p:spPr/>
        <p:txBody>
          <a:bodyPr/>
          <a:lstStyle/>
          <a:p>
            <a:pPr marL="0" indent="0" algn="l">
              <a:buNone/>
            </a:pPr>
            <a:r>
              <a:rPr lang="ru-RU" sz="3200"/>
              <a:t>"Мы объединяем лучшее из кино и сериалов на одной платформе: удобные гибкие тарифы подписки для любого зрителя, эксклюзивные новинки и контент, которого нет больше нигде".</a:t>
            </a: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p:txBody>
          <a:bodyPr/>
          <a:lstStyle/>
          <a:p>
            <a:r>
              <a:rPr lang="ru-RU" sz="3600"/>
              <a:t>Задание 3.2. УТП</a:t>
            </a:r>
          </a:p>
        </p:txBody>
      </p:sp>
      <p:sp>
        <p:nvSpPr>
          <p:cNvPr id="3" name="Заполнитель контента 2"/>
          <p:cNvSpPr>
            <a:spLocks noGrp="1" noEditPoints="1"/>
          </p:cNvSpPr>
          <p:nvPr>
            <p:ph idx="1"/>
          </p:nvPr>
        </p:nvSpPr>
        <p:spPr>
          <a:xfrm>
            <a:off x="838200" y="1394551"/>
            <a:ext cx="10515600" cy="4860790"/>
          </a:xfrm>
        </p:spPr>
        <p:txBody>
          <a:bodyPr/>
          <a:lstStyle/>
          <a:p>
            <a:pPr marL="0" indent="0">
              <a:buNone/>
            </a:pPr>
            <a:r>
              <a:rPr sz="1600"/>
              <a:t>Наш стриминговый сервис предлагает уникальный доступ к международному и российскому контенту — эксклюзивные премьеры, фильмы и сериалы, без рекламы и с возможностью скачивания для офлайн-просмотра.</a:t>
            </a:r>
          </a:p>
          <a:p>
            <a:pPr marL="0" indent="0">
              <a:buNone/>
            </a:pPr>
            <a:r>
              <a:rPr sz="1800" b="1"/>
              <a:t>Что нас отличает?</a:t>
            </a:r>
            <a:endParaRPr sz="1600" b="1"/>
          </a:p>
          <a:p>
            <a:pPr>
              <a:buFont typeface="Arial" pitchFamily="34" charset="0" panose="020B0604020202020204"/>
              <a:buChar char="•"/>
            </a:pPr>
            <a:r>
              <a:rPr sz="1600"/>
              <a:t>Персонализированные рекомендации с учётом настроения и интересов.</a:t>
            </a:r>
            <a:r>
              <a:rPr lang="ru-RU" sz="1600"/>
              <a:t> Встроенный ИИ, который всегда подскажет, что стоит посмотреть в зависимости от запроса пользователя.</a:t>
            </a:r>
            <a:endParaRPr sz="1600"/>
          </a:p>
          <a:p>
            <a:pPr>
              <a:buFont typeface="Arial" pitchFamily="34" charset="0" panose="020B0604020202020204"/>
              <a:buChar char="•"/>
            </a:pPr>
            <a:r>
              <a:rPr lang="ru-RU" sz="1600"/>
              <a:t>Р</a:t>
            </a:r>
            <a:r>
              <a:rPr sz="1600"/>
              <a:t>ежим совместного просмотра с друзьями</a:t>
            </a:r>
            <a:r>
              <a:rPr lang="ru-RU" sz="1600"/>
              <a:t> с чатом для общения</a:t>
            </a:r>
            <a:r>
              <a:rPr sz="1600"/>
              <a:t>.</a:t>
            </a:r>
          </a:p>
          <a:p>
            <a:pPr>
              <a:buFont typeface="Arial" pitchFamily="34" charset="0" panose="020B0604020202020204"/>
              <a:buChar char="•"/>
            </a:pPr>
            <a:r>
              <a:rPr sz="1600"/>
              <a:t>Гибкая ценовая политика и возможность приостанавливать подписку в неактивные дни, чтобы </a:t>
            </a:r>
            <a:r>
              <a:rPr lang="ru-RU" sz="1600"/>
              <a:t>с</a:t>
            </a:r>
            <a:r>
              <a:rPr sz="1600"/>
              <a:t>экономить деньги, а затем легко возобновлять её в по необходимости.</a:t>
            </a:r>
          </a:p>
          <a:p>
            <a:pPr marL="0" indent="0">
              <a:buNone/>
            </a:pPr>
            <a:r>
              <a:rPr sz="1800" b="1"/>
              <a:t>Условия запуска и роста:</a:t>
            </a:r>
            <a:endParaRPr sz="1600" b="1"/>
          </a:p>
          <a:p>
            <a:pPr>
              <a:buFont typeface="Arial" pitchFamily="34" charset="0" panose="020B0604020202020204"/>
              <a:buChar char="•"/>
            </a:pPr>
            <a:r>
              <a:rPr sz="1600"/>
              <a:t>Сотрудничество с ведущими студиями и независимыми авторами.</a:t>
            </a:r>
          </a:p>
          <a:p>
            <a:pPr>
              <a:buFont typeface="Arial" pitchFamily="34" charset="0" panose="020B0604020202020204"/>
              <a:buChar char="•"/>
            </a:pPr>
            <a:r>
              <a:rPr sz="1600"/>
              <a:t>Активный маркетинг и программы лояльности с бонусами, пробными периодами и акциями для привлечения и удержания пользователей.</a:t>
            </a:r>
          </a:p>
          <a:p>
            <a:pPr marL="0" indent="0">
              <a:buNone/>
            </a:pPr>
            <a:r>
              <a:rPr sz="1600" i="1"/>
              <a:t>Мы создаём удобный и гибкий сервис для тех, кто ценит качество, свободу выбора и комфорт</a:t>
            </a:r>
            <a:r>
              <a:rPr lang="ru-RU" sz="1600" i="1"/>
              <a:t>!</a:t>
            </a:r>
            <a:endParaRPr sz="2800" i="1"/>
          </a:p>
          <a:p>
            <a:pPr marL="0" indent="0">
              <a:buNone/>
            </a:pPr>
            <a:endParaRPr sz="2800" i="1"/>
          </a:p>
          <a:p>
            <a:pPr marL="0" indent="0">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p:txBody>
          <a:bodyPr/>
          <a:lstStyle/>
          <a:p>
            <a:r>
              <a:rPr lang="ru-RU" sz="3600"/>
              <a:t>Задание 3.3 Ценовая политика</a:t>
            </a:r>
            <a:endParaRPr sz="3600"/>
          </a:p>
        </p:txBody>
      </p:sp>
      <p:sp>
        <p:nvSpPr>
          <p:cNvPr id="3" name="Заполнитель контента 2"/>
          <p:cNvSpPr>
            <a:spLocks noGrp="1" noEditPoints="1"/>
          </p:cNvSpPr>
          <p:nvPr>
            <p:ph idx="1"/>
          </p:nvPr>
        </p:nvSpPr>
        <p:spPr>
          <a:xfrm>
            <a:off x="838200" y="1455511"/>
            <a:ext cx="10515600" cy="4721452"/>
          </a:xfrm>
        </p:spPr>
        <p:txBody>
          <a:bodyPr/>
          <a:lstStyle/>
          <a:p>
            <a:pPr marL="0" indent="0">
              <a:buNone/>
            </a:pPr>
            <a:r>
              <a:rPr sz="2000" b="1"/>
              <a:t>Принципы:</a:t>
            </a:r>
            <a:r>
              <a:rPr sz="2000"/>
              <a:t> доступность, прибыльность и гибкость тарифов.</a:t>
            </a:r>
          </a:p>
          <a:p>
            <a:pPr marL="0" indent="0">
              <a:buNone/>
            </a:pPr>
            <a:r>
              <a:rPr sz="2000" b="1"/>
              <a:t>Тарифы:</a:t>
            </a:r>
            <a:endParaRPr sz="1600" b="1"/>
          </a:p>
          <a:p>
            <a:pPr>
              <a:lnSpc>
                <a:spcPct val="115000"/>
              </a:lnSpc>
              <a:buFont typeface="Wingdings" charset="0"/>
              <a:buChar char="§"/>
            </a:pPr>
            <a:r>
              <a:rPr sz="1600" b="1"/>
              <a:t>Базовый — 3</a:t>
            </a:r>
            <a:r>
              <a:rPr lang="ru-RU" sz="1600" b="1"/>
              <a:t>5</a:t>
            </a:r>
            <a:r>
              <a:rPr sz="1600" b="1"/>
              <a:t>9 </a:t>
            </a:r>
            <a:r>
              <a:rPr lang="ru-RU" sz="1600" b="1"/>
              <a:t>руб.</a:t>
            </a:r>
            <a:r>
              <a:rPr sz="1600" b="1"/>
              <a:t>/мес</a:t>
            </a:r>
            <a:r>
              <a:rPr lang="ru-RU" sz="1600" b="1"/>
              <a:t>. </a:t>
            </a:r>
            <a:r>
              <a:rPr lang="ru-RU" sz="1600"/>
              <a:t>О</a:t>
            </a:r>
            <a:r>
              <a:rPr sz="1600"/>
              <a:t>сновная библиотека, 1 </a:t>
            </a:r>
            <a:r>
              <a:rPr lang="ru-RU" sz="1600"/>
              <a:t>устройство</a:t>
            </a:r>
            <a:r>
              <a:rPr sz="1600"/>
              <a:t>, стандартное качество</a:t>
            </a:r>
            <a:r>
              <a:rPr lang="ru-RU" sz="1600"/>
              <a:t>, режим совместного просмотра, персонализированные рекомендации, офлайн просмотр.</a:t>
            </a:r>
            <a:endParaRPr sz="1600"/>
          </a:p>
          <a:p>
            <a:pPr>
              <a:lnSpc>
                <a:spcPct val="115000"/>
              </a:lnSpc>
              <a:buFont typeface="Wingdings" charset="0"/>
              <a:buChar char="§"/>
            </a:pPr>
            <a:r>
              <a:rPr sz="1600" b="1"/>
              <a:t>Стандартный — 499 </a:t>
            </a:r>
            <a:r>
              <a:rPr lang="ru-RU" sz="1600" b="1"/>
              <a:t>руб.</a:t>
            </a:r>
            <a:r>
              <a:rPr sz="1600" b="1"/>
              <a:t>/мес</a:t>
            </a:r>
            <a:r>
              <a:rPr lang="ru-RU" sz="1600" b="1"/>
              <a:t>.</a:t>
            </a:r>
            <a:r>
              <a:rPr lang="ru-RU" sz="1600"/>
              <a:t> Все функции базового + </a:t>
            </a:r>
            <a:r>
              <a:rPr sz="1600"/>
              <a:t>вся библиотека, HD, 2 </a:t>
            </a:r>
            <a:r>
              <a:rPr lang="ru-RU" sz="1600"/>
              <a:t>устройства</a:t>
            </a:r>
            <a:r>
              <a:rPr sz="1600"/>
              <a:t>.</a:t>
            </a:r>
          </a:p>
          <a:p>
            <a:pPr>
              <a:lnSpc>
                <a:spcPct val="115000"/>
              </a:lnSpc>
              <a:buFont typeface="Wingdings" charset="0"/>
              <a:buChar char="§"/>
            </a:pPr>
            <a:r>
              <a:rPr sz="1600" b="1"/>
              <a:t>Премиум — 899 </a:t>
            </a:r>
            <a:r>
              <a:rPr lang="ru-RU" sz="1600" b="1"/>
              <a:t>руб.</a:t>
            </a:r>
            <a:r>
              <a:rPr sz="1600" b="1"/>
              <a:t>/мес</a:t>
            </a:r>
            <a:r>
              <a:rPr lang="ru-RU" sz="1600" b="1"/>
              <a:t>.</a:t>
            </a:r>
            <a:r>
              <a:rPr lang="ru-RU" sz="1600"/>
              <a:t> Все функции стандартного + </a:t>
            </a:r>
            <a:r>
              <a:rPr sz="1600"/>
              <a:t> 4 экрана</a:t>
            </a:r>
            <a:r>
              <a:rPr lang="ru-RU" sz="1600"/>
              <a:t>, возможность приостановки подписки</a:t>
            </a:r>
            <a:r>
              <a:rPr sz="1600"/>
              <a:t>.</a:t>
            </a:r>
          </a:p>
          <a:p>
            <a:pPr>
              <a:lnSpc>
                <a:spcPct val="115000"/>
              </a:lnSpc>
              <a:buFont typeface="Wingdings" charset="0"/>
              <a:buChar char="§"/>
            </a:pPr>
            <a:r>
              <a:rPr sz="1600" b="1"/>
              <a:t>Семейный — 1199 </a:t>
            </a:r>
            <a:r>
              <a:rPr lang="ru-RU" sz="1600" b="1"/>
              <a:t>руб.</a:t>
            </a:r>
            <a:r>
              <a:rPr sz="1600" b="1"/>
              <a:t>/мес</a:t>
            </a:r>
            <a:r>
              <a:rPr lang="ru-RU" sz="1600" b="1"/>
              <a:t>.</a:t>
            </a:r>
            <a:r>
              <a:rPr lang="ru-RU" sz="1600"/>
              <a:t> Д</a:t>
            </a:r>
            <a:r>
              <a:rPr sz="1600"/>
              <a:t>о 6 </a:t>
            </a:r>
            <a:r>
              <a:rPr lang="ru-RU" sz="1600"/>
              <a:t>устройств</a:t>
            </a:r>
            <a:r>
              <a:rPr sz="1600"/>
              <a:t>, все функции премиум.</a:t>
            </a:r>
            <a:endParaRPr lang="ru-RU" sz="1600"/>
          </a:p>
          <a:p>
            <a:pPr>
              <a:buFont typeface="Wingdings" charset="0"/>
              <a:buChar char="§"/>
            </a:pPr>
            <a:endParaRPr lang="ru-RU" sz="1371"/>
          </a:p>
          <a:p>
            <a:pPr marL="0" indent="0">
              <a:lnSpc>
                <a:spcPct val="100000"/>
              </a:lnSpc>
              <a:buNone/>
            </a:pPr>
            <a:r>
              <a:rPr sz="1600" b="1" i="1"/>
              <a:t>Приостановка подписки: </a:t>
            </a:r>
            <a:r>
              <a:rPr sz="1600" i="1"/>
              <a:t>суммарн</a:t>
            </a:r>
            <a:r>
              <a:rPr lang="ru-RU" sz="1600" i="1"/>
              <a:t>о </a:t>
            </a:r>
            <a:r>
              <a:rPr sz="1600" i="1"/>
              <a:t>1 месяц паузы на 6 месяцев, можно распределять по </a:t>
            </a:r>
            <a:r>
              <a:rPr lang="ru-RU" sz="1600" i="1"/>
              <a:t>неделям</a:t>
            </a:r>
            <a:r>
              <a:rPr sz="1600" i="1"/>
              <a:t>. Бесплатно для премиум и семейного тарифов; для базового и стандартного — </a:t>
            </a:r>
            <a:r>
              <a:rPr lang="ru-RU" sz="1600" b="1" i="1"/>
              <a:t>150 руб.</a:t>
            </a:r>
            <a:r>
              <a:rPr lang="ru-RU" sz="1600" i="1"/>
              <a:t> за месяц паузы, </a:t>
            </a:r>
            <a:r>
              <a:rPr lang="ru-RU" sz="1600" b="1" i="1"/>
              <a:t>44 руб.</a:t>
            </a:r>
            <a:r>
              <a:rPr lang="ru-RU" sz="1600" i="1"/>
              <a:t> - за неделю</a:t>
            </a:r>
            <a:r>
              <a:rPr sz="1600" i="1"/>
              <a:t>.</a:t>
            </a:r>
            <a:endParaRPr lang="ru-RU" sz="1600" i="1"/>
          </a:p>
          <a:p>
            <a:pPr marL="0" indent="0">
              <a:lnSpc>
                <a:spcPct val="100000"/>
              </a:lnSpc>
              <a:buNone/>
            </a:pPr>
            <a:r>
              <a:rPr sz="1600" b="1" i="1"/>
              <a:t>Дополнительно:</a:t>
            </a:r>
            <a:r>
              <a:rPr sz="1600" i="1"/>
              <a:t> пробный период 14 дней, акции, бонусы, промо-подписки.</a:t>
            </a:r>
          </a:p>
          <a:p>
            <a:pPr marL="0" indent="0">
              <a:buNone/>
            </a:pPr>
            <a:endParaRPr sz="2000" i="1"/>
          </a:p>
          <a:p>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полнитель текста 6"/>
          <p:cNvSpPr>
            <a:spLocks noGrp="1" noEditPoints="1"/>
          </p:cNvSpPr>
          <p:nvPr>
            <p:ph type="body" idx="1"/>
          </p:nvPr>
        </p:nvSpPr>
        <p:spPr>
          <a:xfrm>
            <a:off x="939801" y="1476150"/>
            <a:ext cx="5157787" cy="823912"/>
          </a:xfrm>
        </p:spPr>
        <p:txBody>
          <a:bodyPr/>
          <a:lstStyle/>
          <a:p>
            <a:r>
              <a:t>Риски</a:t>
            </a:r>
          </a:p>
        </p:txBody>
      </p:sp>
      <p:sp>
        <p:nvSpPr>
          <p:cNvPr id="8" name="Заполнитель текста 7"/>
          <p:cNvSpPr>
            <a:spLocks noGrp="1" noEditPoints="1"/>
          </p:cNvSpPr>
          <p:nvPr>
            <p:ph type="body" sz="quarter" idx="3"/>
          </p:nvPr>
        </p:nvSpPr>
        <p:spPr>
          <a:xfrm>
            <a:off x="6464527" y="1476150"/>
            <a:ext cx="5183188" cy="823912"/>
          </a:xfrm>
        </p:spPr>
        <p:txBody>
          <a:bodyPr/>
          <a:lstStyle/>
          <a:p>
            <a:r>
              <a:rPr sz="2400"/>
              <a:t>Подготовка / действия</a:t>
            </a:r>
          </a:p>
        </p:txBody>
      </p:sp>
      <p:sp>
        <p:nvSpPr>
          <p:cNvPr id="9" name="Заполнитель контента 8"/>
          <p:cNvSpPr>
            <a:spLocks noGrp="1" noEditPoints="1"/>
          </p:cNvSpPr>
          <p:nvPr>
            <p:ph sz="quarter" idx="4"/>
          </p:nvPr>
        </p:nvSpPr>
        <p:spPr>
          <a:xfrm>
            <a:off x="6355669" y="2300062"/>
            <a:ext cx="5183188" cy="3684588"/>
          </a:xfrm>
        </p:spPr>
        <p:txBody>
          <a:bodyPr/>
          <a:lstStyle/>
          <a:p>
            <a:r>
              <a:rPr sz="1600"/>
              <a:t>Мониторинг конкурентов и анализ их УТП, цен и акций.</a:t>
            </a:r>
          </a:p>
          <a:p>
            <a:r>
              <a:rPr sz="1600"/>
              <a:t>Анализ аудитории</a:t>
            </a:r>
            <a:r>
              <a:rPr lang="ru-RU" sz="1600"/>
              <a:t> - оценивать популярность жанров, интересы пользователей, вовлечённость через метрики и опросы</a:t>
            </a:r>
            <a:r>
              <a:rPr sz="1600"/>
              <a:t>.</a:t>
            </a:r>
          </a:p>
          <a:p>
            <a:r>
              <a:rPr sz="1600"/>
              <a:t>Гибкая бонусная система: пробный период, акции, рекомендации друзьям.</a:t>
            </a:r>
          </a:p>
          <a:p>
            <a:r>
              <a:rPr sz="1600"/>
              <a:t>К</a:t>
            </a:r>
            <a:r>
              <a:rPr lang="ru-RU" sz="1600"/>
              <a:t>онтроль к</a:t>
            </a:r>
            <a:r>
              <a:rPr sz="1600"/>
              <a:t>ачеств</a:t>
            </a:r>
            <a:r>
              <a:rPr lang="ru-RU" sz="1600"/>
              <a:t>а</a:t>
            </a:r>
            <a:r>
              <a:rPr sz="1600"/>
              <a:t> сервис</a:t>
            </a:r>
            <a:r>
              <a:rPr lang="ru-RU" sz="1600"/>
              <a:t>а</a:t>
            </a:r>
            <a:r>
              <a:rPr sz="1600"/>
              <a:t>: стабильная работа приложения, персонализированные рекомендации, офлайн просмотр.</a:t>
            </a:r>
          </a:p>
          <a:p>
            <a:r>
              <a:rPr sz="1600"/>
              <a:t>Стратегическое планирование контента: закупка эксклюзивных фильмов/сериалов, адаптация под тренды.</a:t>
            </a:r>
          </a:p>
          <a:p/>
        </p:txBody>
      </p:sp>
      <p:sp>
        <p:nvSpPr>
          <p:cNvPr id="2" name="Название 1"/>
          <p:cNvSpPr>
            <a:spLocks noGrp="1" noEditPoints="1"/>
          </p:cNvSpPr>
          <p:nvPr>
            <p:ph type="title"/>
          </p:nvPr>
        </p:nvSpPr>
        <p:spPr/>
        <p:txBody>
          <a:bodyPr/>
          <a:lstStyle/>
          <a:p>
            <a:r>
              <a:rPr lang="ru-RU" sz="3600"/>
              <a:t>Задание 3.4. Прогноз изменений и возможные риски на рынке</a:t>
            </a:r>
            <a:endParaRPr sz="3600"/>
          </a:p>
        </p:txBody>
      </p:sp>
      <p:sp>
        <p:nvSpPr>
          <p:cNvPr id="3" name="Заполнитель контента 2"/>
          <p:cNvSpPr>
            <a:spLocks noGrp="1" noEditPoints="1"/>
          </p:cNvSpPr>
          <p:nvPr>
            <p:ph sz="half" idx="2"/>
          </p:nvPr>
        </p:nvSpPr>
        <p:spPr>
          <a:xfrm>
            <a:off x="939801" y="2300062"/>
            <a:ext cx="5157787" cy="3684588"/>
          </a:xfrm>
        </p:spPr>
        <p:txBody>
          <a:bodyPr/>
          <a:lstStyle/>
          <a:p>
            <a:pPr>
              <a:buFont typeface="Arial" pitchFamily="34" charset="0" panose="020B0604020202020204"/>
              <a:buChar char="•"/>
            </a:pPr>
            <a:r>
              <a:rPr sz="1600"/>
              <a:t>Новые конкуренты с низкой ценой или эксклюзивным контентом.</a:t>
            </a:r>
          </a:p>
          <a:p>
            <a:r>
              <a:rPr sz="1600"/>
              <a:t>Рост пиратства и бесплатных альтернатив.</a:t>
            </a:r>
          </a:p>
          <a:p>
            <a:r>
              <a:rPr sz="1600"/>
              <a:t>Изменения законодательства по международному контенту.</a:t>
            </a:r>
          </a:p>
          <a:p>
            <a:r>
              <a:rPr sz="1600"/>
              <a:t>Смена трендов и предпочтений аудитории.</a:t>
            </a:r>
          </a:p>
          <a:p>
            <a:r>
              <a:rPr sz="1600"/>
              <a:t>Рост стоимости лицензий и контента.</a:t>
            </a:r>
          </a:p>
          <a:p>
            <a:pPr marL="0" indent="0">
              <a:buNone/>
            </a:pPr>
            <a:endParaRPr sz="1600"/>
          </a:p>
          <a:p>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a:xfrm>
            <a:off x="729343" y="180068"/>
            <a:ext cx="11125200" cy="1325563"/>
          </a:xfrm>
        </p:spPr>
        <p:txBody>
          <a:bodyPr/>
          <a:lstStyle/>
          <a:p>
            <a:r>
              <a:rPr lang="ru-RU" sz="3600"/>
              <a:t>Задание 4.2. </a:t>
            </a:r>
            <a:r>
              <a:rPr sz="3600"/>
              <a:t>Ключевая метрика стримингового сервиса: Retention</a:t>
            </a:r>
            <a:r>
              <a:rPr lang="ru-RU" sz="3600"/>
              <a:t> </a:t>
            </a:r>
            <a:endParaRPr sz="3600"/>
          </a:p>
        </p:txBody>
      </p:sp>
      <p:sp>
        <p:nvSpPr>
          <p:cNvPr id="3" name="Заполнитель контента 2"/>
          <p:cNvSpPr>
            <a:spLocks noGrp="1" noEditPoints="1"/>
          </p:cNvSpPr>
          <p:nvPr>
            <p:ph idx="1"/>
          </p:nvPr>
        </p:nvSpPr>
        <p:spPr>
          <a:xfrm>
            <a:off x="838200" y="1586139"/>
            <a:ext cx="10515600" cy="4351338"/>
          </a:xfrm>
        </p:spPr>
        <p:txBody>
          <a:bodyPr/>
          <a:lstStyle/>
          <a:p>
            <a:pPr marL="0" indent="0">
              <a:lnSpc>
                <a:spcPct val="115000"/>
              </a:lnSpc>
              <a:buNone/>
            </a:pPr>
            <a:r>
              <a:rPr sz="1800" b="1"/>
              <a:t>Retention</a:t>
            </a:r>
            <a:r>
              <a:rPr lang="ru-RU" sz="1800" b="1"/>
              <a:t> </a:t>
            </a:r>
            <a:r>
              <a:rPr lang="ru-RU" sz="1600" b="0"/>
              <a:t>(</a:t>
            </a:r>
            <a:r>
              <a:rPr sz="1600"/>
              <a:t>удержание пользователей</a:t>
            </a:r>
            <a:r>
              <a:rPr lang="ru-RU" sz="1600"/>
              <a:t>)</a:t>
            </a:r>
            <a:r>
              <a:rPr sz="1600"/>
              <a:t>, показывает, сколько людей продолжают пользоваться сервисом через определённое время после подписки. Для подписочного стримингового сервиса это критически важная метрика, так как доход напрямую зависит от регулярных платежей.</a:t>
            </a:r>
          </a:p>
          <a:p>
            <a:pPr marL="0" indent="0">
              <a:lnSpc>
                <a:spcPct val="115000"/>
              </a:lnSpc>
              <a:buNone/>
            </a:pPr>
            <a:r>
              <a:rPr sz="1800" b="1"/>
              <a:t>Обоснование выбора:</a:t>
            </a:r>
            <a:endParaRPr sz="1600" b="1"/>
          </a:p>
          <a:p>
            <a:pPr marL="0" indent="0">
              <a:lnSpc>
                <a:spcPct val="115000"/>
              </a:lnSpc>
              <a:buNone/>
            </a:pPr>
            <a:r>
              <a:rPr sz="1600" b="1"/>
              <a:t>1.</a:t>
            </a:r>
            <a:r>
              <a:rPr sz="1600"/>
              <a:t> </a:t>
            </a:r>
            <a:r>
              <a:rPr sz="1600" b="1"/>
              <a:t>Прямое влияние на прибыль</a:t>
            </a:r>
            <a:r>
              <a:rPr sz="1600"/>
              <a:t> – чем выше удержание, тем больше LTV каждого пользователя и выше общая выручка</a:t>
            </a:r>
            <a:r>
              <a:rPr lang="ru-RU" sz="1600"/>
              <a:t> стримингового сервиса</a:t>
            </a:r>
            <a:r>
              <a:rPr sz="1600"/>
              <a:t>.</a:t>
            </a:r>
          </a:p>
          <a:p>
            <a:pPr marL="0" indent="0">
              <a:lnSpc>
                <a:spcPct val="115000"/>
              </a:lnSpc>
              <a:buNone/>
            </a:pPr>
            <a:r>
              <a:rPr sz="1600" b="1"/>
              <a:t>2. Оценка ценности продукта</a:t>
            </a:r>
            <a:r>
              <a:rPr sz="1600"/>
              <a:t> – высокий Retention сигнализирует, что пользователи довольны контентом, интерфейсом и сервисом. Низкий Retention указывает на проблемы, требующие корректировки контента, цены</a:t>
            </a:r>
            <a:r>
              <a:rPr lang="ru-RU" sz="1600"/>
              <a:t> и др</a:t>
            </a:r>
            <a:r>
              <a:rPr sz="1600"/>
              <a:t>.</a:t>
            </a:r>
          </a:p>
          <a:p>
            <a:pPr marL="0" indent="0">
              <a:lnSpc>
                <a:spcPct val="115000"/>
              </a:lnSpc>
              <a:buNone/>
            </a:pPr>
            <a:r>
              <a:rPr sz="1600" b="1"/>
              <a:t>3. Планирование маркетинга</a:t>
            </a:r>
            <a:r>
              <a:rPr sz="1600"/>
              <a:t> – метрика позволяет выявлять эффективность акций, бонусов, промо-подписок и вовремя корректировать стратегию удержания.</a:t>
            </a:r>
          </a:p>
          <a:p>
            <a:pPr marL="0" indent="0">
              <a:lnSpc>
                <a:spcPct val="115000"/>
              </a:lnSpc>
              <a:buNone/>
            </a:pPr>
            <a:r>
              <a:rPr sz="1600" b="1"/>
              <a:t>4. Связь с другими метриками</a:t>
            </a:r>
            <a:r>
              <a:rPr sz="1600"/>
              <a:t> – Retention напрямую влияет на DAU/MAU, Steakness и LTV, делая её универсальным индикатором успешности продукта.</a:t>
            </a:r>
          </a:p>
          <a:p>
            <a:pPr marL="0" indent="0">
              <a:buNone/>
            </a:pP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noEditPoints="1"/>
          </p:cNvSpPr>
          <p:nvPr>
            <p:ph type="title"/>
          </p:nvPr>
        </p:nvSpPr>
        <p:spPr>
          <a:xfrm>
            <a:off x="206829" y="-359228"/>
            <a:ext cx="9546772" cy="1325563"/>
          </a:xfrm>
        </p:spPr>
        <p:txBody>
          <a:bodyPr/>
          <a:lstStyle/>
          <a:p>
            <a:r>
              <a:rPr lang="ru-RU" sz="3600"/>
              <a:t>Задание 6. Рекомендации бизнесу </a:t>
            </a:r>
            <a:endParaRPr sz="3600"/>
          </a:p>
        </p:txBody>
      </p:sp>
      <p:sp>
        <p:nvSpPr>
          <p:cNvPr id="3" name="Заполнитель контента 2"/>
          <p:cNvSpPr>
            <a:spLocks noGrp="1" noEditPoints="1"/>
          </p:cNvSpPr>
          <p:nvPr>
            <p:ph idx="1"/>
          </p:nvPr>
        </p:nvSpPr>
        <p:spPr>
          <a:xfrm>
            <a:off x="337457" y="545760"/>
            <a:ext cx="12061372" cy="5929766"/>
          </a:xfrm>
        </p:spPr>
        <p:txBody>
          <a:bodyPr/>
          <a:lstStyle/>
          <a:p>
            <a:pPr marL="0" indent="0">
              <a:lnSpc>
                <a:spcPts val="1900"/>
              </a:lnSpc>
              <a:buNone/>
            </a:pPr>
            <a:r>
              <a:rPr sz="1600" b="1"/>
              <a:t>1. Усилить ценность продукта</a:t>
            </a:r>
          </a:p>
          <a:p>
            <a:pPr>
              <a:lnSpc>
                <a:spcPts val="1900"/>
              </a:lnSpc>
            </a:pPr>
            <a:r>
              <a:rPr sz="1600"/>
              <a:t>Расширить каталог эксклюзивного международного и российского контента.</a:t>
            </a:r>
            <a:r>
              <a:rPr lang="ru-RU" sz="1600"/>
              <a:t> </a:t>
            </a:r>
            <a:r>
              <a:rPr sz="1600" i="1"/>
              <a:t>[Этап 1: исследование рынка]</a:t>
            </a:r>
          </a:p>
          <a:p>
            <a:pPr>
              <a:lnSpc>
                <a:spcPts val="1900"/>
              </a:lnSpc>
            </a:pPr>
            <a:r>
              <a:rPr sz="1600"/>
              <a:t>Углубить персонализацию контента для ЦА (</a:t>
            </a:r>
            <a:r>
              <a:rPr lang="ru-RU" sz="1600"/>
              <a:t>18</a:t>
            </a:r>
            <a:r>
              <a:rPr sz="1600"/>
              <a:t>–</a:t>
            </a:r>
            <a:r>
              <a:rPr lang="ru-RU" sz="1600"/>
              <a:t>4</a:t>
            </a:r>
            <a:r>
              <a:rPr sz="1600"/>
              <a:t>5 лет).</a:t>
            </a:r>
            <a:r>
              <a:rPr lang="ru-RU" sz="1600"/>
              <a:t> </a:t>
            </a:r>
            <a:r>
              <a:rPr sz="1600" i="1"/>
              <a:t>[Этап 3: продуктовое исследование]</a:t>
            </a:r>
          </a:p>
          <a:p>
            <a:pPr marL="0" indent="0">
              <a:lnSpc>
                <a:spcPts val="1900"/>
              </a:lnSpc>
              <a:buNone/>
            </a:pPr>
            <a:r>
              <a:rPr sz="1600" b="1"/>
              <a:t>2. Оптимизировать ценообразование</a:t>
            </a:r>
          </a:p>
          <a:p>
            <a:pPr>
              <a:lnSpc>
                <a:spcPts val="1900"/>
              </a:lnSpc>
            </a:pPr>
            <a:r>
              <a:rPr sz="1600"/>
              <a:t>Утвердить тарифы: 349 / 499 / 899 / 1199</a:t>
            </a:r>
            <a:r>
              <a:rPr lang="ru-RU" sz="1600"/>
              <a:t> руб./мес.</a:t>
            </a:r>
            <a:r>
              <a:rPr sz="1600"/>
              <a:t>, обеспечивая баланс доступности и прибыльности.</a:t>
            </a:r>
            <a:r>
              <a:rPr sz="1600" i="1"/>
              <a:t>[Этап 1: </a:t>
            </a:r>
            <a:r>
              <a:rPr lang="ru-RU" sz="1600" i="1"/>
              <a:t>исследование рынка: </a:t>
            </a:r>
            <a:r>
              <a:rPr sz="1600" i="1"/>
              <a:t>анализ конкурентов]</a:t>
            </a:r>
          </a:p>
          <a:p>
            <a:pPr>
              <a:lnSpc>
                <a:spcPts val="1900"/>
              </a:lnSpc>
            </a:pPr>
            <a:r>
              <a:rPr sz="1600"/>
              <a:t>Приостановка подписки: 1 месяц каждые 6 месяцев; бесплатно для премиум/семейного, платно 199–249 </a:t>
            </a:r>
            <a:r>
              <a:rPr lang="ru-RU" sz="1600"/>
              <a:t>руб.</a:t>
            </a:r>
            <a:r>
              <a:rPr sz="1600"/>
              <a:t> для остальных.</a:t>
            </a:r>
            <a:r>
              <a:rPr lang="ru-RU" sz="1600"/>
              <a:t> </a:t>
            </a:r>
            <a:r>
              <a:rPr sz="1600" i="1"/>
              <a:t>[Этап 3</a:t>
            </a:r>
            <a:r>
              <a:rPr lang="ru-RU" sz="1600" i="1"/>
              <a:t>: продуктовое исследование</a:t>
            </a:r>
            <a:r>
              <a:rPr sz="1600" i="1"/>
              <a:t>]</a:t>
            </a:r>
          </a:p>
          <a:p>
            <a:pPr marL="0" indent="0">
              <a:lnSpc>
                <a:spcPts val="1900"/>
              </a:lnSpc>
              <a:buNone/>
            </a:pPr>
            <a:r>
              <a:rPr sz="1600" b="1"/>
              <a:t>3. Устранить абуз промокодов (1166 случаев)</a:t>
            </a:r>
          </a:p>
          <a:p>
            <a:pPr>
              <a:lnSpc>
                <a:spcPts val="1900"/>
              </a:lnSpc>
            </a:pPr>
            <a:r>
              <a:rPr sz="1600"/>
              <a:t>Привязка промокодов к устройству.</a:t>
            </a:r>
          </a:p>
          <a:p>
            <a:pPr>
              <a:lnSpc>
                <a:spcPts val="1900"/>
              </a:lnSpc>
            </a:pPr>
            <a:r>
              <a:rPr sz="1600"/>
              <a:t>Проверка платёжных данных и ограничение по IP.</a:t>
            </a:r>
          </a:p>
          <a:p>
            <a:pPr>
              <a:lnSpc>
                <a:spcPts val="1900"/>
              </a:lnSpc>
            </a:pPr>
            <a:r>
              <a:rPr sz="1600"/>
              <a:t>Промокод — только для пользователей, не имевших активностей ранее.</a:t>
            </a:r>
            <a:r>
              <a:rPr lang="ru-RU" sz="1600"/>
              <a:t> </a:t>
            </a:r>
            <a:r>
              <a:rPr sz="1600" i="1"/>
              <a:t>[Этап </a:t>
            </a:r>
            <a:r>
              <a:rPr lang="ru-RU" sz="1600" i="1"/>
              <a:t>3</a:t>
            </a:r>
            <a:r>
              <a:rPr sz="1600" i="1"/>
              <a:t>:</a:t>
            </a:r>
            <a:r>
              <a:rPr lang="ru-RU" sz="1600" i="1"/>
              <a:t> продуктовое исследование</a:t>
            </a:r>
            <a:r>
              <a:rPr sz="1600" i="1"/>
              <a:t>]</a:t>
            </a:r>
          </a:p>
          <a:p>
            <a:pPr marL="0" indent="0">
              <a:lnSpc>
                <a:spcPts val="1900"/>
              </a:lnSpc>
              <a:buNone/>
            </a:pPr>
            <a:r>
              <a:rPr sz="1600" b="1"/>
              <a:t>4. Фокус на удержании</a:t>
            </a:r>
          </a:p>
          <a:p>
            <a:pPr>
              <a:lnSpc>
                <a:spcPts val="1900"/>
              </a:lnSpc>
            </a:pPr>
            <a:r>
              <a:rPr sz="1600"/>
              <a:t>Главная метрика — Retention</a:t>
            </a:r>
            <a:r>
              <a:rPr lang="ru-RU" sz="1600"/>
              <a:t> </a:t>
            </a:r>
            <a:r>
              <a:rPr sz="1600"/>
              <a:t>[Этап 2: </a:t>
            </a:r>
            <a:r>
              <a:rPr lang="ru-RU" sz="1600"/>
              <a:t>дерево </a:t>
            </a:r>
            <a:r>
              <a:rPr sz="1600"/>
              <a:t>метрик]</a:t>
            </a:r>
          </a:p>
          <a:p>
            <a:pPr>
              <a:lnSpc>
                <a:spcPts val="1900"/>
              </a:lnSpc>
            </a:pPr>
            <a:r>
              <a:rPr sz="1600"/>
              <a:t>Дополнительно отслеживать DAU/MAU, LTV и вовлечённость.</a:t>
            </a:r>
          </a:p>
        </p:txBody>
      </p:sp>
    </p:spTree>
  </p:cSld>
  <p:clrMapOvr>
    <a:masterClrMapping/>
  </p:clrMapOvr>
</p:sld>
</file>

<file path=ppt/theme/theme1.xml><?xml version="1.0" encoding="utf-8"?>
<a:theme xmlns:a="http://schemas.openxmlformats.org/drawingml/2006/main" name="Простая жизнь">
  <a:themeElements>
    <a:clrScheme name="Простая жизнь">
      <a:dk1>
        <a:sysClr val="windowText" lastClr="000000"/>
      </a:dk1>
      <a:lt1>
        <a:sysClr val="window" lastClr="FFFFFF"/>
      </a:lt1>
      <a:dk2>
        <a:srgbClr val="354855"/>
      </a:dk2>
      <a:lt2>
        <a:srgbClr val="F3F3F3"/>
      </a:lt2>
      <a:accent1>
        <a:srgbClr val="723E4E"/>
      </a:accent1>
      <a:accent2>
        <a:srgbClr val="EF3353"/>
      </a:accent2>
      <a:accent3>
        <a:srgbClr val="F17145"/>
      </a:accent3>
      <a:accent4>
        <a:srgbClr val="FBBA5B"/>
      </a:accent4>
      <a:accent5>
        <a:srgbClr val="903089"/>
      </a:accent5>
      <a:accent6>
        <a:srgbClr val="005570"/>
      </a:accent6>
      <a:hlink>
        <a:srgbClr val="4CA8E6"/>
      </a:hlink>
      <a:folHlink>
        <a:srgbClr val="86C4EE"/>
      </a:folHlink>
    </a:clrScheme>
    <a:fontScheme name="Простая жизнь">
      <a:majorFont>
        <a:latin typeface="Verdana bold"/>
        <a:ea typeface=""/>
        <a:cs typeface=""/>
      </a:majorFont>
      <a:minorFont>
        <a:latin typeface="Verdana"/>
        <a:ea typeface=""/>
        <a:cs typeface=""/>
      </a:minorFont>
    </a:fontScheme>
    <a:fmtScheme name="Простая жизн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По умолчанию">
  <a:themeElements>
    <a:clrScheme name="Офис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исная">
      <a:majorFont>
        <a:latin typeface="Calibri Light" panose="020F0302020204030204"/>
        <a:ea typeface=""/>
        <a:cs typeface=""/>
        <a:font script="Arab" typeface="Times New Roman"/>
        <a:font script="Armn" typeface="Arial"/>
        <a:font script="Beng" typeface="Vrinda"/>
        <a:font script="Bopo" typeface="Microsoft JhengHei"/>
        <a:font script="Cher" typeface="Plantagenet Cherokee"/>
        <a:font script="Deva" typeface="Mangal"/>
        <a:font script="Ethi" typeface="Nyala"/>
        <a:font script="Geor" typeface="Sylfaen"/>
        <a:font script="Gujr" typeface="Shruti"/>
        <a:font script="Guru" typeface="Raavi"/>
        <a:font script="Hang" typeface="맑은 고딕"/>
        <a:font script="Hebr" typeface="Times New Roman"/>
        <a:font script="Knda" typeface="Tunga"/>
        <a:font script="Khmr" typeface="MoolBoran"/>
        <a:font script="Laoo" typeface="DokChampa"/>
        <a:font script="Mlym" typeface="Kartika"/>
        <a:font script="Mong" typeface="Mongolian Baiti"/>
        <a:font script="Mymr" typeface="Myanmar Text"/>
        <a:font script="Orya" typeface="Kalinga"/>
        <a:font script="Sinh" typeface="Iskoola Pota"/>
        <a:font script="Syrc" typeface="Estrangelo Edessa"/>
        <a:font script="Taml" typeface="Latha"/>
        <a:font script="Telu" typeface="Gautami"/>
        <a:font script="Thaa" typeface="MV Boli"/>
        <a:font script="Thai" typeface="Angsana New"/>
        <a:font script="Tibt" typeface="Microsoft Himalaya"/>
        <a:font script="Cans" typeface="Euphemia"/>
        <a:font script="Yiii" typeface="Microsoft Yi Baiti"/>
        <a:font script="Osma" typeface="Ebrima"/>
        <a:font script="Tale" typeface="Microsoft Tai Le"/>
        <a:font script="Bugi" typeface="Leelawadee UI"/>
        <a:font script="Talu" typeface="Microsoft New Tai Lue"/>
        <a:font script="Tfng" typeface="Ebrima"/>
        <a:font script="Hans" typeface="等线 Light"/>
        <a:font script="Hant" typeface="新細明體"/>
        <a:font script="Java" typeface="Javanese Text"/>
        <a:font script="Nkoo" typeface="Ebrima"/>
        <a:font script="Phag" typeface="Phagspa"/>
        <a:font script="Syre" typeface="Estrangelo Edessa"/>
        <a:font script="Syrj" typeface="Estrangelo Edessa"/>
        <a:font script="Syrn" typeface="Estrangelo Edessa"/>
        <a:font script="Jpan" typeface="游ゴシック Light"/>
        <a:font script="Olck" typeface="Nirmala UI"/>
        <a:font script="Lisu" typeface="Segoe UI"/>
        <a:font script="Sora" typeface="Nirmala UI"/>
      </a:majorFont>
      <a:minorFont>
        <a:latin typeface="Calibri" panose="020F0502020204030204"/>
        <a:ea typeface=""/>
        <a:cs typeface=""/>
        <a:font script="Arab" typeface="Arial"/>
        <a:font script="Armn" typeface="Arial"/>
        <a:font script="Beng" typeface="Vrinda"/>
        <a:font script="Bopo" typeface="Microsoft JhengHei"/>
        <a:font script="Cher" typeface="Plantagenet Cherokee"/>
        <a:font script="Deva" typeface="Mangal"/>
        <a:font script="Ethi" typeface="Nyala"/>
        <a:font script="Geor" typeface="Sylfaen"/>
        <a:font script="Gujr" typeface="Shruti"/>
        <a:font script="Guru" typeface="Raavi"/>
        <a:font script="Hang" typeface="맑은 고딕"/>
        <a:font script="Hebr" typeface="Arial"/>
        <a:font script="Knda" typeface="Tunga"/>
        <a:font script="Khmr" typeface="DaunPenh"/>
        <a:font script="Laoo" typeface="DokChampa"/>
        <a:font script="Mlym" typeface="Kartika"/>
        <a:font script="Mong" typeface="Mongolian Baiti"/>
        <a:font script="Mymr" typeface="Myanmar Text"/>
        <a:font script="Orya" typeface="Kalinga"/>
        <a:font script="Sinh" typeface="Iskoola Pota"/>
        <a:font script="Syrc" typeface="Estrangelo Edessa"/>
        <a:font script="Taml" typeface="Latha"/>
        <a:font script="Telu" typeface="Gautami"/>
        <a:font script="Thaa" typeface="MV Boli"/>
        <a:font script="Thai" typeface="Cordia New"/>
        <a:font script="Tibt" typeface="Microsoft Himalaya"/>
        <a:font script="Cans" typeface="Euphemia"/>
        <a:font script="Yiii" typeface="Microsoft Yi Baiti"/>
        <a:font script="Osma" typeface="Ebrima"/>
        <a:font script="Tale" typeface="Microsoft Tai Le"/>
        <a:font script="Bugi" typeface="Leelawadee UI"/>
        <a:font script="Talu" typeface="Microsoft New Tai Lue"/>
        <a:font script="Tfng" typeface="Ebrima"/>
        <a:font script="Hans" typeface="等线"/>
        <a:font script="Hant" typeface="新細明體"/>
        <a:font script="Java" typeface="Javanese Text"/>
        <a:font script="Nkoo" typeface="Ebrima"/>
        <a:font script="Phag" typeface="Phagspa"/>
        <a:font script="Syre" typeface="Estrangelo Edessa"/>
        <a:font script="Syrj" typeface="Estrangelo Edessa"/>
        <a:font script="Syrn" typeface="Estrangelo Edessa"/>
        <a:font script="Jpan" typeface="游ゴシック"/>
        <a:font script="Olck" typeface="Nirmala UI"/>
        <a:font script="Lisu" typeface="Segoe UI"/>
        <a:font script="Sora" typeface="Nirmala UI"/>
      </a:minorFont>
    </a:fontScheme>
    <a:fmtScheme name="Офис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Mobile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Милена</cp:lastModifiedBy>
  <cp:revision>1</cp:revision>
  <dcterms:created xsi:type="dcterms:W3CDTF">2025-11-14T12:33:43Z</dcterms:created>
  <dcterms:modified xsi:type="dcterms:W3CDTF">2025-11-15T21:36:21Z</dcterms:modified>
</cp:coreProperties>
</file>